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308" r:id="rId1"/>
  </p:sldMasterIdLst>
  <p:notesMasterIdLst>
    <p:notesMasterId r:id="rId42"/>
  </p:notesMasterIdLst>
  <p:sldIdLst>
    <p:sldId id="257" r:id="rId2"/>
    <p:sldId id="303" r:id="rId3"/>
    <p:sldId id="399" r:id="rId4"/>
    <p:sldId id="289" r:id="rId5"/>
    <p:sldId id="260" r:id="rId6"/>
    <p:sldId id="334" r:id="rId7"/>
    <p:sldId id="400" r:id="rId8"/>
    <p:sldId id="282" r:id="rId9"/>
    <p:sldId id="381" r:id="rId10"/>
    <p:sldId id="383" r:id="rId11"/>
    <p:sldId id="402" r:id="rId12"/>
    <p:sldId id="403" r:id="rId13"/>
    <p:sldId id="266" r:id="rId14"/>
    <p:sldId id="391" r:id="rId15"/>
    <p:sldId id="490" r:id="rId16"/>
    <p:sldId id="405" r:id="rId17"/>
    <p:sldId id="304" r:id="rId18"/>
    <p:sldId id="495" r:id="rId19"/>
    <p:sldId id="496" r:id="rId20"/>
    <p:sldId id="500" r:id="rId21"/>
    <p:sldId id="482" r:id="rId22"/>
    <p:sldId id="499" r:id="rId23"/>
    <p:sldId id="460" r:id="rId24"/>
    <p:sldId id="462" r:id="rId25"/>
    <p:sldId id="463" r:id="rId26"/>
    <p:sldId id="465" r:id="rId27"/>
    <p:sldId id="467" r:id="rId28"/>
    <p:sldId id="468" r:id="rId29"/>
    <p:sldId id="470" r:id="rId30"/>
    <p:sldId id="471" r:id="rId31"/>
    <p:sldId id="472" r:id="rId32"/>
    <p:sldId id="473" r:id="rId33"/>
    <p:sldId id="474" r:id="rId34"/>
    <p:sldId id="454" r:id="rId35"/>
    <p:sldId id="453" r:id="rId36"/>
    <p:sldId id="494" r:id="rId37"/>
    <p:sldId id="449" r:id="rId38"/>
    <p:sldId id="451" r:id="rId39"/>
    <p:sldId id="298" r:id="rId40"/>
    <p:sldId id="48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4" autoAdjust="0"/>
    <p:restoredTop sz="92701" autoAdjust="0"/>
  </p:normalViewPr>
  <p:slideViewPr>
    <p:cSldViewPr snapToGrid="0">
      <p:cViewPr varScale="1">
        <p:scale>
          <a:sx n="84" d="100"/>
          <a:sy n="84" d="100"/>
        </p:scale>
        <p:origin x="51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CBEDD-D1FD-4334-B2FB-A7B5124EB653}" type="datetimeFigureOut">
              <a:rPr lang="en-IN" smtClean="0"/>
              <a:t>02-12-2025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1B3F53-27D7-4459-A937-C9981913498F}" type="slidenum">
              <a:rPr lang="en-IN" smtClean="0"/>
              <a:t>‹#›</a:t>
            </a:fld>
            <a:endParaRPr lang="en-IN"/>
          </a:p>
        </p:txBody>
      </p:sp>
    </p:spTree>
    <p:extLst>
      <p:ext uri="{BB962C8B-B14F-4D97-AF65-F5344CB8AC3E}">
        <p14:creationId xmlns:p14="http://schemas.microsoft.com/office/powerpoint/2010/main" val="117419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302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665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5806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1080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19364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124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69655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907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0328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6834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34847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08717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4114048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4580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59877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2932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783185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5691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34933737"/>
      </p:ext>
    </p:extLst>
  </p:cSld>
  <p:clrMap bg1="dk1" tx1="lt1" bg2="dk2" tx2="lt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 id="2147484320" r:id="rId12"/>
    <p:sldLayoutId id="2147484321" r:id="rId13"/>
    <p:sldLayoutId id="2147484322" r:id="rId14"/>
    <p:sldLayoutId id="2147484323" r:id="rId15"/>
    <p:sldLayoutId id="2147484324" r:id="rId16"/>
    <p:sldLayoutId id="214748432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8183" y="2532344"/>
            <a:ext cx="10838986" cy="1200329"/>
          </a:xfrm>
          <a:prstGeom prst="rect">
            <a:avLst/>
          </a:prstGeom>
        </p:spPr>
        <p:txBody>
          <a:bodyPr wrap="square">
            <a:spAutoFit/>
          </a:bodyPr>
          <a:lstStyle/>
          <a:p>
            <a:pPr algn="ctr"/>
            <a:r>
              <a:rPr lang="en-US" sz="3600" b="1" dirty="0">
                <a:latin typeface="Times New Roman" panose="02020603050405020304" pitchFamily="18" charset="0"/>
                <a:ea typeface="Calibri" panose="020F0502020204030204" pitchFamily="34" charset="0"/>
                <a:cs typeface="Times New Roman" panose="02020603050405020304" pitchFamily="18" charset="0"/>
              </a:rPr>
              <a:t>Optimized Machine Learning Approaches for Better Sleep Disorder Diagnosis</a:t>
            </a:r>
          </a:p>
        </p:txBody>
      </p:sp>
    </p:spTree>
    <p:extLst>
      <p:ext uri="{BB962C8B-B14F-4D97-AF65-F5344CB8AC3E}">
        <p14:creationId xmlns:p14="http://schemas.microsoft.com/office/powerpoint/2010/main" val="3780940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7D6F-FBC0-0AE2-734A-39B5AE210BD2}"/>
              </a:ext>
            </a:extLst>
          </p:cNvPr>
          <p:cNvSpPr txBox="1"/>
          <p:nvPr/>
        </p:nvSpPr>
        <p:spPr>
          <a:xfrm>
            <a:off x="5233182" y="383163"/>
            <a:ext cx="1209821" cy="352686"/>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a:t>
            </a:r>
            <a:r>
              <a:rPr lang="en-US" sz="9600" b="1" dirty="0">
                <a:solidFill>
                  <a:schemeClr val="tx1"/>
                </a:solidFill>
                <a:latin typeface="Times New Roman" panose="02020603050405020304" pitchFamily="18" charset="0"/>
                <a:cs typeface="Times New Roman" panose="02020603050405020304" pitchFamily="18" charset="0"/>
              </a:rPr>
              <a:t>INDEX</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66356" y="1415408"/>
            <a:ext cx="3392557" cy="4480073"/>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Project Description</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Problem Statement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Objective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Scope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Significant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Proposed System</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Architecture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Resource Requirements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Research Gap analysis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Literature Review</a:t>
            </a:r>
          </a:p>
          <a:p>
            <a:pPr marL="457189" indent="-457189" algn="just">
              <a:lnSpc>
                <a:spcPct val="15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457189" indent="-457189" algn="just">
              <a:lnSpc>
                <a:spcPct val="150000"/>
              </a:lnSpc>
              <a:buFont typeface="Wingdings" panose="05000000000000000000" pitchFamily="2" charset="2"/>
              <a:buChar char="v"/>
            </a:pPr>
            <a:endParaRPr lang="en-IN" sz="1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443003" y="1246595"/>
            <a:ext cx="4970896" cy="4480073"/>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Implementation</a:t>
            </a:r>
          </a:p>
          <a:p>
            <a:pPr algn="just">
              <a:lnSpc>
                <a:spcPct val="150000"/>
              </a:lnSpc>
            </a:pPr>
            <a:r>
              <a:rPr lang="en-US" sz="1600" dirty="0">
                <a:latin typeface="Times New Roman" panose="02020603050405020304" pitchFamily="18" charset="0"/>
                <a:cs typeface="Times New Roman" panose="02020603050405020304" pitchFamily="18" charset="0"/>
              </a:rPr>
              <a:t>	1. Data Description</a:t>
            </a:r>
          </a:p>
          <a:p>
            <a:pPr algn="just">
              <a:lnSpc>
                <a:spcPct val="150000"/>
              </a:lnSpc>
            </a:pPr>
            <a:r>
              <a:rPr lang="en-US" sz="1600" dirty="0">
                <a:latin typeface="Times New Roman" panose="02020603050405020304" pitchFamily="18" charset="0"/>
                <a:cs typeface="Times New Roman" panose="02020603050405020304" pitchFamily="18" charset="0"/>
              </a:rPr>
              <a:t>	2. Preprocessing steps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Model Implementation</a:t>
            </a:r>
          </a:p>
          <a:p>
            <a:pPr algn="just">
              <a:lnSpc>
                <a:spcPct val="150000"/>
              </a:lnSpc>
            </a:pPr>
            <a:r>
              <a:rPr lang="en-US" sz="16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dirty="0">
                <a:latin typeface="Times New Roman" panose="02020603050405020304" pitchFamily="18" charset="0"/>
                <a:cs typeface="Times New Roman" panose="02020603050405020304" pitchFamily="18" charset="0"/>
              </a:rPr>
              <a:t>	2. working Process</a:t>
            </a:r>
          </a:p>
          <a:p>
            <a:pPr algn="just">
              <a:lnSpc>
                <a:spcPct val="150000"/>
              </a:lnSpc>
            </a:pPr>
            <a:r>
              <a:rPr lang="en-US" sz="1600" dirty="0">
                <a:latin typeface="Times New Roman" panose="02020603050405020304" pitchFamily="18" charset="0"/>
                <a:cs typeface="Times New Roman" panose="02020603050405020304" pitchFamily="18" charset="0"/>
              </a:rPr>
              <a:t>	3. Results from Algorithm</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UML’s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Output Screens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Conclusion</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Future Scope</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759704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162" y="969963"/>
            <a:ext cx="10595675"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Sleep disorders, particularly sleep apnea, are a significant health concern affecting millions of individuals globally. Timely and accurate detection of sleep apnea is essential for early intervention and effective treatment. This project presents an optimized machine learning-based approach for detecting sleep apnea using electrocardiogram (ECG) data. The system employs three powerful machine learning algorithms—Support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—to classify ECG signals into two categories: normal (0) and sleep apnea (1). By utilizing these models, the system aims to provide accurate, real-time detection of sleep apnea from ECG signals, which are commonly used for diagnosing this disorder. The models are trained and evaluated using Python, leveraging popular libraries such as </a:t>
            </a:r>
            <a:r>
              <a:rPr lang="en-US" dirty="0" err="1">
                <a:latin typeface="Times New Roman" panose="02020603050405020304" pitchFamily="18" charset="0"/>
                <a:cs typeface="Times New Roman" panose="02020603050405020304" pitchFamily="18" charset="0"/>
              </a:rPr>
              <a:t>scikit</a:t>
            </a:r>
            <a:r>
              <a:rPr lang="en-US" dirty="0">
                <a:latin typeface="Times New Roman" panose="02020603050405020304" pitchFamily="18" charset="0"/>
                <a:cs typeface="Times New Roman" panose="02020603050405020304" pitchFamily="18" charset="0"/>
              </a:rPr>
              <a:t>-learn for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implementations. The goal is to create a robust and scalable solution that can assist healthcare professionals in diagnosing sleep apnea efficiently, ultimately improving patient outcomes. This work emphasizes the potential of machine learning in enhancing diagnostic accuracy and providing automated support for healthcare providers.</a:t>
            </a:r>
          </a:p>
        </p:txBody>
      </p:sp>
      <p:sp>
        <p:nvSpPr>
          <p:cNvPr id="3" name="Rectangle 2"/>
          <p:cNvSpPr/>
          <p:nvPr/>
        </p:nvSpPr>
        <p:spPr>
          <a:xfrm>
            <a:off x="4578827" y="443983"/>
            <a:ext cx="3158172" cy="523220"/>
          </a:xfrm>
          <a:prstGeom prst="rect">
            <a:avLst/>
          </a:prstGeom>
        </p:spPr>
        <p:txBody>
          <a:bodyPr wrap="none">
            <a:spAutoFit/>
          </a:bodyPr>
          <a:lstStyle/>
          <a:p>
            <a:r>
              <a:rPr lang="en-GB" sz="2800" b="1" dirty="0">
                <a:latin typeface="Times New Roman" panose="02020603050405020304" pitchFamily="18" charset="0"/>
                <a:cs typeface="Times New Roman" panose="02020603050405020304" pitchFamily="18" charset="0"/>
              </a:rPr>
              <a:t>Project Description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138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6E96F-BAC6-6AE1-E215-92965F1F2D5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598A542-D535-BB7F-737F-7E9B5F5453B7}"/>
              </a:ext>
            </a:extLst>
          </p:cNvPr>
          <p:cNvSpPr txBox="1"/>
          <p:nvPr/>
        </p:nvSpPr>
        <p:spPr>
          <a:xfrm>
            <a:off x="1464936" y="39336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BD8DF1C2-733B-404D-11CA-B843215745CD}"/>
              </a:ext>
            </a:extLst>
          </p:cNvPr>
          <p:cNvSpPr txBox="1"/>
          <p:nvPr/>
        </p:nvSpPr>
        <p:spPr>
          <a:xfrm>
            <a:off x="826148" y="1451085"/>
            <a:ext cx="10479744" cy="3891258"/>
          </a:xfrm>
          <a:prstGeom prst="rect">
            <a:avLst/>
          </a:prstGeom>
          <a:noFill/>
        </p:spPr>
        <p:txBody>
          <a:bodyPr wrap="square" rtlCol="0">
            <a:spAutoFit/>
          </a:bodyPr>
          <a:lstStyle/>
          <a:p>
            <a:pPr algn="just">
              <a:lnSpc>
                <a:spcPct val="20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Sleep apnea, a serious medical condition characterized by interruptions in breathing during sleep, remains underdiagnosed due to its subtle symptoms and reliance on traditional diagnostic methods such as polysomnography. These methods are often expensive, time-consuming, and not widely accessible. This project seeks to address these limitations by utilizing machine learning algorithms to detect sleep apnea directly from ECG data. The challenge lies in accurately classifying the ECG signals into two categories: normal and sleep apnea, while maintaining high diagnostic accuracy. By overcoming the constraints of existing methods, this project aims to provide an efficient, cost-effective, and non-invasive alternative for diagnosing sleep apnea.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0412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83291" y="40735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OBJECTIVE OF PROJECT</a:t>
            </a:r>
          </a:p>
        </p:txBody>
      </p:sp>
      <p:sp>
        <p:nvSpPr>
          <p:cNvPr id="5" name="Rectangle 2">
            <a:extLst>
              <a:ext uri="{FF2B5EF4-FFF2-40B4-BE49-F238E27FC236}">
                <a16:creationId xmlns:a16="http://schemas.microsoft.com/office/drawing/2014/main" id="{962981C4-3289-0DCD-0A37-FF302572998B}"/>
              </a:ext>
            </a:extLst>
          </p:cNvPr>
          <p:cNvSpPr>
            <a:spLocks noChangeArrowheads="1"/>
          </p:cNvSpPr>
          <p:nvPr/>
        </p:nvSpPr>
        <p:spPr bwMode="auto">
          <a:xfrm>
            <a:off x="904403" y="2526275"/>
            <a:ext cx="1038594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Times New Roman" panose="02020603050405020304" pitchFamily="18" charset="0"/>
                <a:cs typeface="Times New Roman" panose="02020603050405020304" pitchFamily="18" charset="0"/>
              </a:rPr>
              <a:t>The objective of this project is to develop an optimized machine learning-based system for the accurate detection and classification of sleep apnea using electrocardiogram (ECG) data. The project employs three powerful machine learning algorithms—Support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—to categorize ECG signals into two classes: normal (0) and sleep apnea (1). By leveraging these models, the system aims to enhance the detection accuracy of sleep apnea, providing healthcare professionals with a reliable tool for early diagnosis. The primary goal is to create a real-time, scalable solution that can aid in sleep disorder diagnosis, improving patient care and treatment outcomes.</a:t>
            </a:r>
          </a:p>
        </p:txBody>
      </p:sp>
    </p:spTree>
    <p:extLst>
      <p:ext uri="{BB962C8B-B14F-4D97-AF65-F5344CB8AC3E}">
        <p14:creationId xmlns:p14="http://schemas.microsoft.com/office/powerpoint/2010/main" val="2718045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3FB8-2596-7773-87BB-A9E8EE619E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89D618-AD01-D562-FAFC-45225F71F13A}"/>
              </a:ext>
            </a:extLst>
          </p:cNvPr>
          <p:cNvSpPr/>
          <p:nvPr/>
        </p:nvSpPr>
        <p:spPr>
          <a:xfrm>
            <a:off x="902970" y="1428751"/>
            <a:ext cx="10641330" cy="3002745"/>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scope of this project includes the development of a machine learning-based sleep apnea detection system using ECG data. The project will apply three machine learning algorithms—SVM, Random Forest, and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—to classify ECG signals as either normal or indicative of sleep apnea. The system will be trained using publicly available ECG datasets, and the models will be evaluated for accuracy, precision, and recall. The project will also include the creation of a user-friendly front-end interface, where healthcare providers can input ECG data and receive real-time classification results. The back-end will be powered by Python, utilizing libraries such as </a:t>
            </a:r>
            <a:r>
              <a:rPr lang="en-US" sz="1600" dirty="0" err="1">
                <a:latin typeface="Times New Roman" panose="02020603050405020304" pitchFamily="18" charset="0"/>
                <a:cs typeface="Times New Roman" panose="02020603050405020304" pitchFamily="18" charset="0"/>
              </a:rPr>
              <a:t>scikit</a:t>
            </a:r>
            <a:r>
              <a:rPr lang="en-US" sz="1600" dirty="0">
                <a:latin typeface="Times New Roman" panose="02020603050405020304" pitchFamily="18" charset="0"/>
                <a:cs typeface="Times New Roman" panose="02020603050405020304" pitchFamily="18" charset="0"/>
              </a:rPr>
              <a:t>-learn and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This project aims to provide a cost-effective, accurate, and accessible solution for sleep apnea diagnosis, making it applicable to both clinical environments and home monitoring systems.</a:t>
            </a:r>
          </a:p>
        </p:txBody>
      </p:sp>
      <p:sp>
        <p:nvSpPr>
          <p:cNvPr id="3" name="Title 1">
            <a:extLst>
              <a:ext uri="{FF2B5EF4-FFF2-40B4-BE49-F238E27FC236}">
                <a16:creationId xmlns:a16="http://schemas.microsoft.com/office/drawing/2014/main" id="{5760BD58-A571-04E9-796B-FA359361B4F2}"/>
              </a:ext>
            </a:extLst>
          </p:cNvPr>
          <p:cNvSpPr txBox="1"/>
          <p:nvPr/>
        </p:nvSpPr>
        <p:spPr>
          <a:xfrm>
            <a:off x="1153162" y="13700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961955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1727" y="315396"/>
            <a:ext cx="2686310" cy="523220"/>
          </a:xfrm>
          <a:prstGeom prst="rect">
            <a:avLst/>
          </a:prstGeom>
        </p:spPr>
        <p:txBody>
          <a:bodyPr wrap="square">
            <a:spAutoFit/>
          </a:bodyPr>
          <a:lstStyle/>
          <a:p>
            <a:r>
              <a:rPr lang="en-GB" sz="2800" b="1" dirty="0">
                <a:latin typeface="Times New Roman" panose="02020603050405020304" pitchFamily="18" charset="0"/>
                <a:cs typeface="Times New Roman" panose="02020603050405020304" pitchFamily="18" charset="0"/>
              </a:rPr>
              <a:t>SIGNIFICANT</a:t>
            </a: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629587" y="948690"/>
            <a:ext cx="10972799" cy="585955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sleep apnea detection system proposed in this project leverages machine learning algorithms such as 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to classify ECG signals as either normal or indicative of sleep apnea. By automating the detection process, this system presents a significant advancement over traditional diagnostic methods like polysomnography (PSG), which are expensive, time-consuming, and require specialized equipment. With the increasing prevalence of sleep apnea and the demand for accessible, affordable healthcare solutions, this project addresses a critical gap by offering a non-invasive, real-time alternative for sleep apnea </a:t>
            </a:r>
            <a:r>
              <a:rPr lang="en-US" dirty="0" err="1">
                <a:latin typeface="Times New Roman" panose="02020603050405020304" pitchFamily="18" charset="0"/>
                <a:cs typeface="Times New Roman" panose="02020603050405020304" pitchFamily="18" charset="0"/>
              </a:rPr>
              <a:t>diagnosis.The</a:t>
            </a:r>
            <a:r>
              <a:rPr lang="en-US" dirty="0">
                <a:latin typeface="Times New Roman" panose="02020603050405020304" pitchFamily="18" charset="0"/>
                <a:cs typeface="Times New Roman" panose="02020603050405020304" pitchFamily="18" charset="0"/>
              </a:rPr>
              <a:t> integration of machine learning into this system enables it to learn from large datasets of ECG signals, recognizing complex patterns that may be missed by human interpretation. By processing ECG signals in real-time, the system provides immediate feedback, which is essential for early diagnosis and intervention. Additionally, the use of algorithms like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enhances the system's accuracy, allowing for better classification of sleep apnea events based on ECG data. This also ensures that healthcare providers can rely on consistent, data-driven predictions rather than subjective </a:t>
            </a:r>
            <a:r>
              <a:rPr lang="en-US" dirty="0" err="1">
                <a:latin typeface="Times New Roman" panose="02020603050405020304" pitchFamily="18" charset="0"/>
                <a:cs typeface="Times New Roman" panose="02020603050405020304" pitchFamily="18" charset="0"/>
              </a:rPr>
              <a:t>evaluations.Furthermore</a:t>
            </a:r>
            <a:r>
              <a:rPr lang="en-US" dirty="0">
                <a:latin typeface="Times New Roman" panose="02020603050405020304" pitchFamily="18" charset="0"/>
                <a:cs typeface="Times New Roman" panose="02020603050405020304" pitchFamily="18" charset="0"/>
              </a:rPr>
              <a:t>, the system offers significant cost savings by reducing the need for expensive, in-clinic testing. The ability to monitor patients remotely through wearable devices enables more frequent screenings, leading to earlier detection and better management of sleep apnea. </a:t>
            </a:r>
          </a:p>
        </p:txBody>
      </p:sp>
    </p:spTree>
    <p:extLst>
      <p:ext uri="{BB962C8B-B14F-4D97-AF65-F5344CB8AC3E}">
        <p14:creationId xmlns:p14="http://schemas.microsoft.com/office/powerpoint/2010/main" val="209367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9105" y="1647127"/>
            <a:ext cx="9473784" cy="3782061"/>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sleep apnea detection predominantly relies on traditional methods such as polysomnography (PSG), a comprehensive sleep study conducted in specialized sleep clinics. PSG involves recording multiple physiological parameters, including EEG, EOG, ECG, and airflow, to diagnose sleep apnea. However, this method is expensive, time-consuming, and requires patients to stay overnight in a clinic, making it impractical for widespread, regular monitoring. Additionally, the process is labor-intensive, requiring skilled technicians to interpret the results, which can lead to delays in diagnosis. Although home-based sleep apnea testing devices (such as portable monitors) are available, they still rely on cumbersome equipment and lack the convenience and non-invasiveness that could be achieved with an automated, real-time detection system.</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p:cNvSpPr/>
          <p:nvPr/>
        </p:nvSpPr>
        <p:spPr>
          <a:xfrm>
            <a:off x="4342953" y="134030"/>
            <a:ext cx="3506088"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214271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4601" y="1311005"/>
            <a:ext cx="10505674" cy="5676169"/>
          </a:xfrm>
          <a:prstGeom prst="rect">
            <a:avLst/>
          </a:prstGeom>
        </p:spPr>
        <p:txBody>
          <a:bodyPr wrap="square">
            <a:spAutoFit/>
          </a:bodyPr>
          <a:lstStyle/>
          <a:p>
            <a:pPr algn="just">
              <a:lnSpc>
                <a:spcPct val="200000"/>
              </a:lnSpc>
              <a:spcAft>
                <a:spcPts val="10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The proposed system aims to address these issues by leveraging machine learning algorithms, specifically Support Vector Machine (SVM), Random Forest, and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XGBoost</a:t>
            </a:r>
            <a:r>
              <a:rPr lang="en-US" dirty="0">
                <a:latin typeface="Times New Roman" panose="02020603050405020304" pitchFamily="18" charset="0"/>
                <a:ea typeface="Times New Roman" panose="02020603050405020304" pitchFamily="18" charset="0"/>
                <a:cs typeface="Times New Roman" panose="02020603050405020304" pitchFamily="18" charset="0"/>
              </a:rPr>
              <a:t>, to detect sleep apnea from electrocardiogram (ECG) data. The system will analyze real-time ECG signals to classify them as either normal or sleep apnea events, providing a cost-effective and non-invasive alternative to traditional diagnostic methods. The proposed solution will utilize a user-friendly front-end interface built with HTML, CSS, and JavaScript, allowing patients or healthcare providers to input ECG data and receive immediate predictions. The back-end will be implemented in Python, with model training, evaluation, and prediction powered by libraries like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scikit</a:t>
            </a:r>
            <a:r>
              <a:rPr lang="en-US" dirty="0">
                <a:latin typeface="Times New Roman" panose="02020603050405020304" pitchFamily="18" charset="0"/>
                <a:ea typeface="Times New Roman" panose="02020603050405020304" pitchFamily="18" charset="0"/>
                <a:cs typeface="Times New Roman" panose="02020603050405020304" pitchFamily="18" charset="0"/>
              </a:rPr>
              <a:t>-learn and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XGBoost</a:t>
            </a:r>
            <a:r>
              <a:rPr lang="en-US" dirty="0">
                <a:latin typeface="Times New Roman" panose="02020603050405020304" pitchFamily="18" charset="0"/>
                <a:ea typeface="Times New Roman" panose="02020603050405020304" pitchFamily="18" charset="0"/>
                <a:cs typeface="Times New Roman" panose="02020603050405020304" pitchFamily="18" charset="0"/>
              </a:rPr>
              <a:t>. The system will also be scalable, making it suitable for integration into wearable devices for continuous, real-time monitoring of sleep apnea.</a:t>
            </a:r>
          </a:p>
          <a:p>
            <a:pPr algn="just">
              <a:lnSpc>
                <a:spcPct val="200000"/>
              </a:lnSpc>
              <a:spcAft>
                <a:spcPts val="1000"/>
              </a:spcAft>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4242766" y="134030"/>
            <a:ext cx="3706464"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465380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642253-F49B-9814-9AB8-4864E191BFAB}"/>
              </a:ext>
            </a:extLst>
          </p:cNvPr>
          <p:cNvSpPr txBox="1"/>
          <p:nvPr/>
        </p:nvSpPr>
        <p:spPr>
          <a:xfrm>
            <a:off x="4023360" y="275724"/>
            <a:ext cx="6105378" cy="458074"/>
          </a:xfrm>
          <a:prstGeom prst="rect">
            <a:avLst/>
          </a:prstGeom>
          <a:noFill/>
        </p:spPr>
        <p:txBody>
          <a:bodyPr wrap="square">
            <a:spAutoFit/>
          </a:bodyPr>
          <a:lstStyle/>
          <a:p>
            <a:pPr marL="118745" indent="0" algn="just">
              <a:lnSpc>
                <a:spcPct val="150000"/>
              </a:lnSpc>
              <a:buNone/>
            </a:pPr>
            <a:r>
              <a:rPr lang="en-US" sz="1800" b="1" dirty="0">
                <a:latin typeface="Times New Roman" panose="02020603050405020304" pitchFamily="18" charset="0"/>
                <a:cs typeface="Times New Roman" panose="02020603050405020304" pitchFamily="18" charset="0"/>
              </a:rPr>
              <a:t>ARCHITECHTURE DIAGRAM</a:t>
            </a: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0495FA-3370-41C6-8BF0-6276751E72DC}"/>
              </a:ext>
            </a:extLst>
          </p:cNvPr>
          <p:cNvPicPr/>
          <p:nvPr/>
        </p:nvPicPr>
        <p:blipFill>
          <a:blip r:embed="rId2"/>
          <a:stretch>
            <a:fillRect/>
          </a:stretch>
        </p:blipFill>
        <p:spPr>
          <a:xfrm>
            <a:off x="3230245" y="1414462"/>
            <a:ext cx="5731510" cy="4029075"/>
          </a:xfrm>
          <a:prstGeom prst="rect">
            <a:avLst/>
          </a:prstGeom>
        </p:spPr>
      </p:pic>
    </p:spTree>
    <p:extLst>
      <p:ext uri="{BB962C8B-B14F-4D97-AF65-F5344CB8AC3E}">
        <p14:creationId xmlns:p14="http://schemas.microsoft.com/office/powerpoint/2010/main" val="103710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xfrm>
            <a:off x="953467" y="713333"/>
            <a:ext cx="10285200" cy="947600"/>
          </a:xfrm>
          <a:prstGeom prst="rect">
            <a:avLst/>
          </a:prstGeom>
          <a:ln>
            <a:noFill/>
          </a:ln>
        </p:spPr>
        <p:txBody>
          <a:bodyPr spcFirstLastPara="1" vert="horz" wrap="square" lIns="121900" tIns="121900" rIns="121900" bIns="121900" rtlCol="0" anchor="t" anchorCtr="0">
            <a:noAutofit/>
          </a:bodyPr>
          <a:lstStyle/>
          <a:p>
            <a:pPr>
              <a:lnSpc>
                <a:spcPct val="150000"/>
              </a:lnSpc>
            </a:pPr>
            <a:r>
              <a:rPr lang="en-US" sz="32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4729184" y="1960600"/>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01</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5951584" y="1937300"/>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Hardware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68" name="Google Shape;868;p32"/>
          <p:cNvSpPr txBox="1"/>
          <p:nvPr/>
        </p:nvSpPr>
        <p:spPr>
          <a:xfrm>
            <a:off x="5951584" y="2428100"/>
            <a:ext cx="4564800" cy="513200"/>
          </a:xfrm>
          <a:prstGeom prst="rect">
            <a:avLst/>
          </a:prstGeom>
          <a:noFill/>
          <a:ln>
            <a:noFill/>
          </a:ln>
        </p:spPr>
        <p:txBody>
          <a:bodyPr spcFirstLastPara="1" wrap="square" lIns="121900" tIns="121900" rIns="121900" bIns="121900" anchor="t" anchorCtr="0">
            <a:noAutofit/>
          </a:bodyPr>
          <a:lstStyle/>
          <a:p>
            <a:pPr lvl="0"/>
            <a:r>
              <a:rPr lang="en-GB" sz="1067"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1067" dirty="0">
                <a:latin typeface="Times New Roman" panose="02020603050405020304" pitchFamily="18" charset="0"/>
                <a:cs typeface="Times New Roman" panose="02020603050405020304" pitchFamily="18" charset="0"/>
              </a:rPr>
              <a:t>I5/Intel Processor, </a:t>
            </a:r>
            <a:r>
              <a:rPr lang="en-IN" sz="1067" b="1" dirty="0">
                <a:latin typeface="Times New Roman" panose="02020603050405020304" pitchFamily="18" charset="0"/>
                <a:cs typeface="Times New Roman" panose="02020603050405020304" pitchFamily="18" charset="0"/>
              </a:rPr>
              <a:t>RAM:</a:t>
            </a:r>
            <a:r>
              <a:rPr lang="en-IN" sz="1067" dirty="0">
                <a:latin typeface="Times New Roman" panose="02020603050405020304" pitchFamily="18" charset="0"/>
                <a:cs typeface="Times New Roman" panose="02020603050405020304" pitchFamily="18" charset="0"/>
              </a:rPr>
              <a:t> 8GB (min), </a:t>
            </a:r>
            <a:r>
              <a:rPr lang="en-IN" sz="1067" b="1" dirty="0">
                <a:latin typeface="Times New Roman" panose="02020603050405020304" pitchFamily="18" charset="0"/>
                <a:cs typeface="Times New Roman" panose="02020603050405020304" pitchFamily="18" charset="0"/>
              </a:rPr>
              <a:t>Hard Disk: </a:t>
            </a:r>
            <a:r>
              <a:rPr lang="en-IN" sz="1067" dirty="0">
                <a:latin typeface="Times New Roman" panose="02020603050405020304" pitchFamily="18" charset="0"/>
                <a:cs typeface="Times New Roman" panose="02020603050405020304" pitchFamily="18" charset="0"/>
              </a:rPr>
              <a:t>128 GB</a:t>
            </a:r>
            <a:r>
              <a:rPr lang="en-IN" sz="1067" b="1" dirty="0">
                <a:latin typeface="Times New Roman" panose="02020603050405020304" pitchFamily="18" charset="0"/>
                <a:cs typeface="Times New Roman" panose="02020603050405020304" pitchFamily="18" charset="0"/>
              </a:rPr>
              <a:t>, Key Board:</a:t>
            </a:r>
            <a:r>
              <a:rPr lang="en-IN" sz="1067" dirty="0">
                <a:latin typeface="Times New Roman" panose="02020603050405020304" pitchFamily="18" charset="0"/>
                <a:cs typeface="Times New Roman" panose="02020603050405020304" pitchFamily="18" charset="0"/>
              </a:rPr>
              <a:t> Standard Windows Keyboard, </a:t>
            </a:r>
            <a:r>
              <a:rPr lang="en-IN" sz="1067" b="1" dirty="0">
                <a:latin typeface="Times New Roman" panose="02020603050405020304" pitchFamily="18" charset="0"/>
                <a:cs typeface="Times New Roman" panose="02020603050405020304" pitchFamily="18" charset="0"/>
              </a:rPr>
              <a:t>Mouse:</a:t>
            </a:r>
            <a:r>
              <a:rPr lang="en-IN" sz="1067" dirty="0">
                <a:latin typeface="Times New Roman" panose="02020603050405020304" pitchFamily="18" charset="0"/>
                <a:cs typeface="Times New Roman" panose="02020603050405020304" pitchFamily="18" charset="0"/>
              </a:rPr>
              <a:t> Two or Three Button Mouse)</a:t>
            </a:r>
          </a:p>
          <a:p>
            <a:pPr>
              <a:lnSpc>
                <a:spcPct val="115000"/>
              </a:lnSpc>
            </a:pP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510748" y="3158967"/>
            <a:ext cx="2094469" cy="1178400"/>
          </a:xfrm>
          <a:prstGeom prst="rect">
            <a:avLst/>
          </a:prstGeom>
          <a:noFill/>
          <a:ln>
            <a:noFill/>
          </a:ln>
        </p:spPr>
        <p:txBody>
          <a:bodyPr spcFirstLastPara="1" wrap="square" lIns="121900" tIns="121900" rIns="121900" bIns="121900" anchor="t" anchorCtr="0">
            <a:noAutofit/>
          </a:bodyPr>
          <a:lstStyle/>
          <a:p>
            <a:pPr algn="ctr">
              <a:lnSpc>
                <a:spcPct val="115000"/>
              </a:lnSpc>
            </a:pPr>
            <a:r>
              <a:rPr lang="en-GB" sz="2667" dirty="0">
                <a:latin typeface="Poppins Black" panose="00000800000000000000"/>
                <a:ea typeface="Poppins Black" panose="00000800000000000000"/>
                <a:cs typeface="Poppins Black" panose="00000800000000000000"/>
                <a:sym typeface="Poppins Black" panose="00000800000000000000"/>
              </a:rPr>
              <a:t>Resources</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0" name="Google Shape;870;p32"/>
          <p:cNvSpPr/>
          <p:nvPr/>
        </p:nvSpPr>
        <p:spPr>
          <a:xfrm>
            <a:off x="4729184" y="3238567"/>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02</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5951584" y="3215267"/>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Software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2" name="Google Shape;872;p32"/>
          <p:cNvSpPr txBox="1"/>
          <p:nvPr/>
        </p:nvSpPr>
        <p:spPr>
          <a:xfrm>
            <a:off x="5951584" y="3706067"/>
            <a:ext cx="4564800" cy="513200"/>
          </a:xfrm>
          <a:prstGeom prst="rect">
            <a:avLst/>
          </a:prstGeom>
          <a:noFill/>
          <a:ln>
            <a:noFill/>
          </a:ln>
        </p:spPr>
        <p:txBody>
          <a:bodyPr spcFirstLastPara="1" wrap="square" lIns="121900" tIns="121900" rIns="121900" bIns="121900" anchor="t" anchorCtr="0">
            <a:noAutofit/>
          </a:bodyPr>
          <a:lstStyle/>
          <a:p>
            <a:pPr lvl="0"/>
            <a:r>
              <a:rPr lang="en-US" sz="1067" dirty="0">
                <a:latin typeface="Times New Roman" panose="02020603050405020304" pitchFamily="18" charset="0"/>
                <a:cs typeface="Times New Roman" panose="02020603050405020304" pitchFamily="18" charset="0"/>
              </a:rPr>
              <a:t>(</a:t>
            </a:r>
            <a:r>
              <a:rPr lang="en-US" sz="1067" b="1" dirty="0">
                <a:latin typeface="Times New Roman" panose="02020603050405020304" pitchFamily="18" charset="0"/>
                <a:cs typeface="Times New Roman" panose="02020603050405020304" pitchFamily="18" charset="0"/>
              </a:rPr>
              <a:t>Operating System: </a:t>
            </a:r>
            <a:r>
              <a:rPr lang="en-US" sz="1067" dirty="0">
                <a:latin typeface="Times New Roman" panose="02020603050405020304" pitchFamily="18" charset="0"/>
                <a:cs typeface="Times New Roman" panose="02020603050405020304" pitchFamily="18" charset="0"/>
              </a:rPr>
              <a:t>Windows 10, </a:t>
            </a:r>
            <a:r>
              <a:rPr lang="en-US" sz="1067" b="1" dirty="0">
                <a:latin typeface="Times New Roman" panose="02020603050405020304" pitchFamily="18" charset="0"/>
                <a:cs typeface="Times New Roman" panose="02020603050405020304" pitchFamily="18" charset="0"/>
              </a:rPr>
              <a:t>Programming Language: </a:t>
            </a:r>
            <a:r>
              <a:rPr lang="en-US" sz="1067" dirty="0">
                <a:latin typeface="Times New Roman" panose="02020603050405020304" pitchFamily="18" charset="0"/>
                <a:cs typeface="Times New Roman" panose="02020603050405020304" pitchFamily="18" charset="0"/>
              </a:rPr>
              <a:t>Python 3.10.8, </a:t>
            </a:r>
            <a:r>
              <a:rPr lang="en-US" sz="1067" b="1" dirty="0">
                <a:latin typeface="Times New Roman" panose="02020603050405020304" pitchFamily="18" charset="0"/>
                <a:cs typeface="Times New Roman" panose="02020603050405020304" pitchFamily="18" charset="0"/>
              </a:rPr>
              <a:t>IDE: </a:t>
            </a:r>
            <a:r>
              <a:rPr lang="en-US" sz="1067" dirty="0">
                <a:latin typeface="Times New Roman" panose="02020603050405020304" pitchFamily="18" charset="0"/>
                <a:cs typeface="Times New Roman" panose="02020603050405020304" pitchFamily="18" charset="0"/>
              </a:rPr>
              <a:t>VS Code)</a:t>
            </a:r>
            <a:endParaRPr lang="en-IN" sz="1067"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4729184" y="4516533"/>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03</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5951584" y="4493233"/>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US" sz="2400" dirty="0">
                <a:latin typeface="Poppins Black" panose="00000800000000000000"/>
                <a:ea typeface="Poppins Black" panose="00000800000000000000"/>
                <a:cs typeface="Poppins Black" panose="00000800000000000000"/>
                <a:sym typeface="Poppins Black" panose="00000800000000000000"/>
              </a:rPr>
              <a:t>Packages/Libraries</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5" name="Google Shape;875;p32"/>
          <p:cNvSpPr txBox="1"/>
          <p:nvPr/>
        </p:nvSpPr>
        <p:spPr>
          <a:xfrm>
            <a:off x="5951584" y="5000845"/>
            <a:ext cx="5022000" cy="513200"/>
          </a:xfrm>
          <a:prstGeom prst="rect">
            <a:avLst/>
          </a:prstGeom>
          <a:noFill/>
          <a:ln>
            <a:noFill/>
          </a:ln>
        </p:spPr>
        <p:txBody>
          <a:bodyPr spcFirstLastPara="1" wrap="square" lIns="121900" tIns="121900" rIns="121900" bIns="121900" anchor="t" anchorCtr="0">
            <a:noAutofit/>
          </a:bodyPr>
          <a:lstStyle/>
          <a:p>
            <a:pPr>
              <a:lnSpc>
                <a:spcPct val="115000"/>
              </a:lnSpc>
            </a:pP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953458" y="5308091"/>
            <a:ext cx="356873" cy="349332"/>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121900" tIns="121900" rIns="121900" bIns="121900" anchor="ctr" anchorCtr="0">
            <a:noAutofit/>
          </a:bodyPr>
          <a:lstStyle/>
          <a:p>
            <a:endParaRPr sz="2400"/>
          </a:p>
        </p:txBody>
      </p:sp>
      <p:cxnSp>
        <p:nvCxnSpPr>
          <p:cNvPr id="878" name="Google Shape;878;p32"/>
          <p:cNvCxnSpPr>
            <a:stCxn id="869" idx="3"/>
            <a:endCxn id="866" idx="2"/>
          </p:cNvCxnSpPr>
          <p:nvPr/>
        </p:nvCxnSpPr>
        <p:spPr>
          <a:xfrm flipV="1">
            <a:off x="3605218" y="2470201"/>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79" name="Google Shape;879;p32"/>
          <p:cNvCxnSpPr>
            <a:stCxn id="869" idx="3"/>
            <a:endCxn id="870" idx="2"/>
          </p:cNvCxnSpPr>
          <p:nvPr/>
        </p:nvCxnSpPr>
        <p:spPr>
          <a:xfrm>
            <a:off x="3605218" y="3748167"/>
            <a:ext cx="1123967" cy="16933"/>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80" name="Google Shape;880;p32"/>
          <p:cNvCxnSpPr/>
          <p:nvPr/>
        </p:nvCxnSpPr>
        <p:spPr>
          <a:xfrm>
            <a:off x="3703649" y="3789068"/>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sp>
        <p:nvSpPr>
          <p:cNvPr id="22" name="Google Shape;894;p34"/>
          <p:cNvSpPr txBox="1"/>
          <p:nvPr/>
        </p:nvSpPr>
        <p:spPr>
          <a:xfrm>
            <a:off x="10320983" y="1166719"/>
            <a:ext cx="859477" cy="125394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4267" b="1" dirty="0">
              <a:solidFill>
                <a:schemeClr val="tx1"/>
              </a:solidFill>
            </a:endParaRPr>
          </a:p>
        </p:txBody>
      </p:sp>
    </p:spTree>
    <p:extLst>
      <p:ext uri="{BB962C8B-B14F-4D97-AF65-F5344CB8AC3E}">
        <p14:creationId xmlns:p14="http://schemas.microsoft.com/office/powerpoint/2010/main" val="1804652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3151" y="483198"/>
            <a:ext cx="5587049" cy="659802"/>
          </a:xfrm>
        </p:spPr>
        <p:txBody>
          <a:bodyPr/>
          <a:lstStyle/>
          <a:p>
            <a:pPr algn="ctr"/>
            <a:r>
              <a:rPr lang="en-IN" sz="2800" b="1" dirty="0">
                <a:latin typeface="Times New Roman" panose="02020603050405020304" pitchFamily="18" charset="0"/>
                <a:cs typeface="Times New Roman" panose="02020603050405020304" pitchFamily="18" charset="0"/>
              </a:rPr>
              <a:t>RESEARCH GAP ANALYSIS</a:t>
            </a:r>
          </a:p>
        </p:txBody>
      </p:sp>
      <p:sp>
        <p:nvSpPr>
          <p:cNvPr id="3" name="Rectangle 2"/>
          <p:cNvSpPr/>
          <p:nvPr/>
        </p:nvSpPr>
        <p:spPr>
          <a:xfrm>
            <a:off x="769833" y="1054184"/>
            <a:ext cx="10916748" cy="5859553"/>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research on sleep apnea detection using electrocardiogram (ECG) data has made considerable progress, but there are still several gaps that need to be addressed to enhance the accuracy, accessibility, and applicability of these systems. One of the primary gaps in existing research is the reliance on traditional diagnostic methods, such as polysomnography (PSG), which are expensive, time-consuming, and require specialized healthcare facilities. While machine learning-based solutions, including those using ECG data, have been proposed, many of these methods focus on small datasets or fail to incorporate diverse patient populations, limiting their </a:t>
            </a:r>
            <a:r>
              <a:rPr lang="en-US" dirty="0" err="1">
                <a:latin typeface="Times New Roman" panose="02020603050405020304" pitchFamily="18" charset="0"/>
                <a:cs typeface="Times New Roman" panose="02020603050405020304" pitchFamily="18" charset="0"/>
              </a:rPr>
              <a:t>generalizability.Another</a:t>
            </a:r>
            <a:r>
              <a:rPr lang="en-US" dirty="0">
                <a:latin typeface="Times New Roman" panose="02020603050405020304" pitchFamily="18" charset="0"/>
                <a:cs typeface="Times New Roman" panose="02020603050405020304" pitchFamily="18" charset="0"/>
              </a:rPr>
              <a:t> key gap lies in the limited integration of real-time monitoring and predictive capabilities in existing systems. Most current approaches are designed for batch processing, which makes them less effective in providing immediate feedback or continuous monitoring for patients. Real-time detection, which could potentially be deployed on wearable devices, is still underdeveloped. There is a need for more robust and scalable models that can operate in real-time and on-device, making them more accessible for widespread </a:t>
            </a:r>
            <a:r>
              <a:rPr lang="en-US" dirty="0" err="1">
                <a:latin typeface="Times New Roman" panose="02020603050405020304" pitchFamily="18" charset="0"/>
                <a:cs typeface="Times New Roman" panose="02020603050405020304" pitchFamily="18" charset="0"/>
              </a:rPr>
              <a:t>use.Moreover</a:t>
            </a:r>
            <a:r>
              <a:rPr lang="en-US" dirty="0">
                <a:latin typeface="Times New Roman" panose="02020603050405020304" pitchFamily="18" charset="0"/>
                <a:cs typeface="Times New Roman" panose="02020603050405020304" pitchFamily="18" charset="0"/>
              </a:rPr>
              <a:t>, the interpretability of machine learning models in healthcare remains an unresolved issue. Many existing models, including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are often seen as "black boxes," making it difficult for healthcare providers to understand the rationale behind the predictions. </a:t>
            </a:r>
          </a:p>
        </p:txBody>
      </p:sp>
    </p:spTree>
    <p:extLst>
      <p:ext uri="{BB962C8B-B14F-4D97-AF65-F5344CB8AC3E}">
        <p14:creationId xmlns:p14="http://schemas.microsoft.com/office/powerpoint/2010/main" val="1428848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22026377"/>
              </p:ext>
            </p:extLst>
          </p:nvPr>
        </p:nvGraphicFramePr>
        <p:xfrm>
          <a:off x="676146" y="1395088"/>
          <a:ext cx="10839707" cy="3767476"/>
        </p:xfrm>
        <a:graphic>
          <a:graphicData uri="http://schemas.openxmlformats.org/drawingml/2006/table">
            <a:tbl>
              <a:tblPr firstRow="1" bandRow="1">
                <a:tableStyleId>{5C22544A-7EE6-4342-B048-85BDC9FD1C3A}</a:tableStyleId>
              </a:tblPr>
              <a:tblGrid>
                <a:gridCol w="867869">
                  <a:extLst>
                    <a:ext uri="{9D8B030D-6E8A-4147-A177-3AD203B41FA5}">
                      <a16:colId xmlns:a16="http://schemas.microsoft.com/office/drawing/2014/main" val="20000"/>
                    </a:ext>
                  </a:extLst>
                </a:gridCol>
                <a:gridCol w="924084">
                  <a:extLst>
                    <a:ext uri="{9D8B030D-6E8A-4147-A177-3AD203B41FA5}">
                      <a16:colId xmlns:a16="http://schemas.microsoft.com/office/drawing/2014/main" val="20001"/>
                    </a:ext>
                  </a:extLst>
                </a:gridCol>
                <a:gridCol w="1268892">
                  <a:extLst>
                    <a:ext uri="{9D8B030D-6E8A-4147-A177-3AD203B41FA5}">
                      <a16:colId xmlns:a16="http://schemas.microsoft.com/office/drawing/2014/main" val="20002"/>
                    </a:ext>
                  </a:extLst>
                </a:gridCol>
                <a:gridCol w="2217512">
                  <a:extLst>
                    <a:ext uri="{9D8B030D-6E8A-4147-A177-3AD203B41FA5}">
                      <a16:colId xmlns:a16="http://schemas.microsoft.com/office/drawing/2014/main" val="20003"/>
                    </a:ext>
                  </a:extLst>
                </a:gridCol>
                <a:gridCol w="5561350">
                  <a:extLst>
                    <a:ext uri="{9D8B030D-6E8A-4147-A177-3AD203B41FA5}">
                      <a16:colId xmlns:a16="http://schemas.microsoft.com/office/drawing/2014/main" val="20004"/>
                    </a:ext>
                  </a:extLst>
                </a:gridCol>
              </a:tblGrid>
              <a:tr h="585616">
                <a:tc>
                  <a:txBody>
                    <a:bodyPr/>
                    <a:lstStyle/>
                    <a:p>
                      <a:r>
                        <a:rPr lang="en-IN" b="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YEAR</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AUTHORS</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TITLE</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OUTCOMES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1664356">
                <a:tc>
                  <a:txBody>
                    <a:bodyPr/>
                    <a:lstStyle/>
                    <a:p>
                      <a:r>
                        <a:rPr lang="en-IN">
                          <a:latin typeface="Times New Roman" panose="02020603050405020304" pitchFamily="18" charset="0"/>
                          <a:cs typeface="Times New Roman" panose="02020603050405020304" pitchFamily="18" charset="0"/>
                        </a:rPr>
                        <a:t>1</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fi-FI">
                          <a:latin typeface="Times New Roman" panose="02020603050405020304" pitchFamily="18" charset="0"/>
                          <a:cs typeface="Times New Roman" panose="02020603050405020304" pitchFamily="18" charset="0"/>
                        </a:rPr>
                        <a:t>A. R. Desai, M. K. Gupta, S. B. Kumar</a:t>
                      </a:r>
                    </a:p>
                  </a:txBody>
                  <a:tcPr anchor="ctr"/>
                </a:tc>
                <a:tc>
                  <a:txBody>
                    <a:bodyPr/>
                    <a:lstStyle/>
                    <a:p>
                      <a:r>
                        <a:rPr lang="en-US">
                          <a:latin typeface="Times New Roman" panose="02020603050405020304" pitchFamily="18" charset="0"/>
                          <a:cs typeface="Times New Roman" panose="02020603050405020304" pitchFamily="18" charset="0"/>
                        </a:rPr>
                        <a:t>Machine Learning Approaches for Sleep Apnea Detection Using ECG Data</a:t>
                      </a:r>
                    </a:p>
                  </a:txBody>
                  <a:tcPr anchor="ctr"/>
                </a:tc>
                <a:tc>
                  <a:txBody>
                    <a:bodyPr/>
                    <a:lstStyle/>
                    <a:p>
                      <a:r>
                        <a:rPr lang="en-US">
                          <a:latin typeface="Times New Roman" panose="02020603050405020304" pitchFamily="18" charset="0"/>
                          <a:cs typeface="Times New Roman" panose="02020603050405020304" pitchFamily="18" charset="0"/>
                        </a:rPr>
                        <a:t>Developed a machine learning-based system using SVM, Random Forest, and XGBoost for detecting sleep apnea from ECG signals with high accuracy.</a:t>
                      </a:r>
                    </a:p>
                  </a:txBody>
                  <a:tcPr anchor="ctr"/>
                </a:tc>
                <a:extLst>
                  <a:ext uri="{0D108BD9-81ED-4DB2-BD59-A6C34878D82A}">
                    <a16:rowId xmlns:a16="http://schemas.microsoft.com/office/drawing/2014/main" val="10001"/>
                  </a:ext>
                </a:extLst>
              </a:tr>
              <a:tr h="0">
                <a:tc>
                  <a:txBody>
                    <a:bodyPr/>
                    <a:lstStyle/>
                    <a:p>
                      <a:r>
                        <a:rPr lang="en-IN">
                          <a:latin typeface="Times New Roman" panose="02020603050405020304" pitchFamily="18" charset="0"/>
                          <a:cs typeface="Times New Roman" panose="02020603050405020304" pitchFamily="18" charset="0"/>
                        </a:rPr>
                        <a:t>2</a:t>
                      </a:r>
                    </a:p>
                  </a:txBody>
                  <a:tcPr anchor="ctr"/>
                </a:tc>
                <a:tc>
                  <a:txBody>
                    <a:bodyPr/>
                    <a:lstStyle/>
                    <a:p>
                      <a:r>
                        <a:rPr lang="en-IN">
                          <a:latin typeface="Times New Roman" panose="02020603050405020304" pitchFamily="18" charset="0"/>
                          <a:cs typeface="Times New Roman" panose="02020603050405020304" pitchFamily="18" charset="0"/>
                        </a:rPr>
                        <a:t>2024</a:t>
                      </a:r>
                    </a:p>
                  </a:txBody>
                  <a:tcPr anchor="ctr"/>
                </a:tc>
                <a:tc>
                  <a:txBody>
                    <a:bodyPr/>
                    <a:lstStyle/>
                    <a:p>
                      <a:r>
                        <a:rPr lang="en-IN">
                          <a:latin typeface="Times New Roman" panose="02020603050405020304" pitchFamily="18" charset="0"/>
                          <a:cs typeface="Times New Roman" panose="02020603050405020304" pitchFamily="18" charset="0"/>
                        </a:rPr>
                        <a:t>T. M. Singh, R. P. Sharma, K. L. Verma</a:t>
                      </a:r>
                    </a:p>
                  </a:txBody>
                  <a:tcPr anchor="ctr"/>
                </a:tc>
                <a:tc>
                  <a:txBody>
                    <a:bodyPr/>
                    <a:lstStyle/>
                    <a:p>
                      <a:r>
                        <a:rPr lang="en-US" dirty="0">
                          <a:latin typeface="Times New Roman" panose="02020603050405020304" pitchFamily="18" charset="0"/>
                          <a:cs typeface="Times New Roman" panose="02020603050405020304" pitchFamily="18" charset="0"/>
                        </a:rPr>
                        <a:t>ECG-Based Sleep Apnea Detection Using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Random Forest Algorithms</a:t>
                      </a:r>
                    </a:p>
                  </a:txBody>
                  <a:tcPr anchor="ctr"/>
                </a:tc>
                <a:tc>
                  <a:txBody>
                    <a:bodyPr/>
                    <a:lstStyle/>
                    <a:p>
                      <a:r>
                        <a:rPr lang="en-US" dirty="0">
                          <a:latin typeface="Times New Roman" panose="02020603050405020304" pitchFamily="18" charset="0"/>
                          <a:cs typeface="Times New Roman" panose="02020603050405020304" pitchFamily="18" charset="0"/>
                        </a:rPr>
                        <a:t>Showed how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Random Forest can effectively classify sleep apnea events from ECG data, demonstrating significant improvement in accuracy.</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076191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88078296"/>
              </p:ext>
            </p:extLst>
          </p:nvPr>
        </p:nvGraphicFramePr>
        <p:xfrm>
          <a:off x="822640" y="1125751"/>
          <a:ext cx="10415204" cy="4712857"/>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3</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fi-FI">
                          <a:latin typeface="Times New Roman" panose="02020603050405020304" pitchFamily="18" charset="0"/>
                          <a:cs typeface="Times New Roman" panose="02020603050405020304" pitchFamily="18" charset="0"/>
                        </a:rPr>
                        <a:t>N. J. Patel, A. M. Joshi, D. K. Kapoor</a:t>
                      </a:r>
                    </a:p>
                  </a:txBody>
                  <a:tcPr anchor="ctr"/>
                </a:tc>
                <a:tc>
                  <a:txBody>
                    <a:bodyPr/>
                    <a:lstStyle/>
                    <a:p>
                      <a:r>
                        <a:rPr lang="en-US">
                          <a:latin typeface="Times New Roman" panose="02020603050405020304" pitchFamily="18" charset="0"/>
                          <a:cs typeface="Times New Roman" panose="02020603050405020304" pitchFamily="18" charset="0"/>
                        </a:rPr>
                        <a:t>Detection of Sleep Apnea from ECG Data Using SVM and Ensemble Methods</a:t>
                      </a:r>
                    </a:p>
                  </a:txBody>
                  <a:tcPr anchor="ctr"/>
                </a:tc>
                <a:tc>
                  <a:txBody>
                    <a:bodyPr/>
                    <a:lstStyle/>
                    <a:p>
                      <a:r>
                        <a:rPr lang="en-US" dirty="0">
                          <a:latin typeface="Times New Roman" panose="02020603050405020304" pitchFamily="18" charset="0"/>
                          <a:cs typeface="Times New Roman" panose="02020603050405020304" pitchFamily="18" charset="0"/>
                        </a:rPr>
                        <a:t>Investigated the use of ensemble methods with SVM for enhanced sleep apnea detection, achieving better classification performance.</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4</a:t>
                      </a:r>
                    </a:p>
                  </a:txBody>
                  <a:tcPr anchor="ctr"/>
                </a:tc>
                <a:tc>
                  <a:txBody>
                    <a:bodyPr/>
                    <a:lstStyle/>
                    <a:p>
                      <a:r>
                        <a:rPr lang="en-IN">
                          <a:latin typeface="Times New Roman" panose="02020603050405020304" pitchFamily="18" charset="0"/>
                          <a:cs typeface="Times New Roman" panose="02020603050405020304" pitchFamily="18" charset="0"/>
                        </a:rPr>
                        <a:t>2024</a:t>
                      </a:r>
                    </a:p>
                  </a:txBody>
                  <a:tcPr anchor="ctr"/>
                </a:tc>
                <a:tc>
                  <a:txBody>
                    <a:bodyPr/>
                    <a:lstStyle/>
                    <a:p>
                      <a:r>
                        <a:rPr lang="pt-BR">
                          <a:latin typeface="Times New Roman" panose="02020603050405020304" pitchFamily="18" charset="0"/>
                          <a:cs typeface="Times New Roman" panose="02020603050405020304" pitchFamily="18" charset="0"/>
                        </a:rPr>
                        <a:t>L. M. Thomas, P. B. Sharma, R. G. Verma</a:t>
                      </a:r>
                    </a:p>
                  </a:txBody>
                  <a:tcPr anchor="ctr"/>
                </a:tc>
                <a:tc>
                  <a:txBody>
                    <a:bodyPr/>
                    <a:lstStyle/>
                    <a:p>
                      <a:r>
                        <a:rPr lang="en-US" dirty="0">
                          <a:latin typeface="Times New Roman" panose="02020603050405020304" pitchFamily="18" charset="0"/>
                          <a:cs typeface="Times New Roman" panose="02020603050405020304" pitchFamily="18" charset="0"/>
                        </a:rPr>
                        <a:t>Real-Time Sleep Apnea Monitoring with Machine Learning Algorithms: A Comparative Study of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Random Forest, and SVM</a:t>
                      </a:r>
                    </a:p>
                  </a:txBody>
                  <a:tcPr anchor="ctr"/>
                </a:tc>
                <a:tc>
                  <a:txBody>
                    <a:bodyPr/>
                    <a:lstStyle/>
                    <a:p>
                      <a:r>
                        <a:rPr lang="en-US" dirty="0">
                          <a:latin typeface="Times New Roman" panose="02020603050405020304" pitchFamily="18" charset="0"/>
                          <a:cs typeface="Times New Roman" panose="02020603050405020304" pitchFamily="18" charset="0"/>
                        </a:rPr>
                        <a:t>Compared the performance of multiple machine learning algorithms for real-time monitoring of sleep apnea with a focus on ECG-based classification.</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56519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9072690"/>
              </p:ext>
            </p:extLst>
          </p:nvPr>
        </p:nvGraphicFramePr>
        <p:xfrm>
          <a:off x="822640" y="1125751"/>
          <a:ext cx="10415204" cy="4570512"/>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5</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US">
                          <a:latin typeface="Times New Roman" panose="02020603050405020304" pitchFamily="18" charset="0"/>
                          <a:cs typeface="Times New Roman" panose="02020603050405020304" pitchFamily="18" charset="0"/>
                        </a:rPr>
                        <a:t>S. K. Jain, R. M. Gupta, V. P. Sharma</a:t>
                      </a:r>
                    </a:p>
                  </a:txBody>
                  <a:tcPr anchor="ctr"/>
                </a:tc>
                <a:tc>
                  <a:txBody>
                    <a:bodyPr/>
                    <a:lstStyle/>
                    <a:p>
                      <a:r>
                        <a:rPr lang="en-US">
                          <a:latin typeface="Times New Roman" panose="02020603050405020304" pitchFamily="18" charset="0"/>
                          <a:cs typeface="Times New Roman" panose="02020603050405020304" pitchFamily="18" charset="0"/>
                        </a:rPr>
                        <a:t>ECG Signal Classification for Sleep Apnea Detection Using XGBoost</a:t>
                      </a:r>
                    </a:p>
                  </a:txBody>
                  <a:tcPr anchor="ctr"/>
                </a:tc>
                <a:tc>
                  <a:txBody>
                    <a:bodyPr/>
                    <a:lstStyle/>
                    <a:p>
                      <a:r>
                        <a:rPr lang="en-US" dirty="0">
                          <a:latin typeface="Times New Roman" panose="02020603050405020304" pitchFamily="18" charset="0"/>
                          <a:cs typeface="Times New Roman" panose="02020603050405020304" pitchFamily="18" charset="0"/>
                        </a:rPr>
                        <a:t>Applied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to classify ECG signals and detected sleep apnea with high reliability, improving detection in real-time scenarios.</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6</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IN">
                          <a:latin typeface="Times New Roman" panose="02020603050405020304" pitchFamily="18" charset="0"/>
                          <a:cs typeface="Times New Roman" panose="02020603050405020304" pitchFamily="18" charset="0"/>
                        </a:rPr>
                        <a:t>P. R. Verma, D. A. Singh, A. K. Kapoor</a:t>
                      </a:r>
                    </a:p>
                  </a:txBody>
                  <a:tcPr anchor="ctr"/>
                </a:tc>
                <a:tc>
                  <a:txBody>
                    <a:bodyPr/>
                    <a:lstStyle/>
                    <a:p>
                      <a:r>
                        <a:rPr lang="en-US" dirty="0">
                          <a:latin typeface="Times New Roman" panose="02020603050405020304" pitchFamily="18" charset="0"/>
                          <a:cs typeface="Times New Roman" panose="02020603050405020304" pitchFamily="18" charset="0"/>
                        </a:rPr>
                        <a:t>Sleep Apnea Detection Using Machine Learning Techniques and ECG Data</a:t>
                      </a:r>
                    </a:p>
                  </a:txBody>
                  <a:tcPr anchor="ctr"/>
                </a:tc>
                <a:tc>
                  <a:txBody>
                    <a:bodyPr/>
                    <a:lstStyle/>
                    <a:p>
                      <a:r>
                        <a:rPr lang="en-US" dirty="0">
                          <a:latin typeface="Times New Roman" panose="02020603050405020304" pitchFamily="18" charset="0"/>
                          <a:cs typeface="Times New Roman" panose="02020603050405020304" pitchFamily="18" charset="0"/>
                        </a:rPr>
                        <a:t>Explored machine learning techniques for ECG-based sleep apnea detection, enhancing prediction accuracy and speed.</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761531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9391" y="376518"/>
            <a:ext cx="3986849" cy="705522"/>
          </a:xfrm>
        </p:spPr>
        <p:txBody>
          <a:bodyPr/>
          <a:lstStyle/>
          <a:p>
            <a:r>
              <a:rPr lang="en-IN" sz="2800" b="1" dirty="0">
                <a:latin typeface="Times New Roman" panose="02020603050405020304" pitchFamily="18" charset="0"/>
                <a:cs typeface="Times New Roman" panose="02020603050405020304" pitchFamily="18" charset="0"/>
              </a:rPr>
              <a:t>IMPLEMENTATION</a:t>
            </a:r>
            <a:endParaRPr lang="en-IN" sz="2800" dirty="0"/>
          </a:p>
        </p:txBody>
      </p:sp>
      <p:sp>
        <p:nvSpPr>
          <p:cNvPr id="3" name="Regular Pentagon 2"/>
          <p:cNvSpPr/>
          <p:nvPr/>
        </p:nvSpPr>
        <p:spPr>
          <a:xfrm>
            <a:off x="1264725" y="1310640"/>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a:latin typeface="Poppins Black" panose="00000800000000000000"/>
                <a:ea typeface="Poppins Black" panose="00000800000000000000"/>
                <a:cs typeface="Poppins Black" panose="00000800000000000000"/>
              </a:rPr>
              <a:t>01</a:t>
            </a:r>
            <a:endParaRPr lang="en-IN" sz="2667">
              <a:solidFill>
                <a:schemeClr val="tx1"/>
              </a:solidFill>
              <a:latin typeface="Poppins Black" panose="00000800000000000000"/>
              <a:ea typeface="Poppins Black" panose="00000800000000000000"/>
              <a:cs typeface="Poppins Black" panose="00000800000000000000"/>
            </a:endParaRPr>
          </a:p>
        </p:txBody>
      </p:sp>
      <p:sp>
        <p:nvSpPr>
          <p:cNvPr id="6" name="Regular Pentagon 5"/>
          <p:cNvSpPr/>
          <p:nvPr/>
        </p:nvSpPr>
        <p:spPr>
          <a:xfrm>
            <a:off x="8654731" y="4396736"/>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05</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7" name="Regular Pentagon 6"/>
          <p:cNvSpPr/>
          <p:nvPr/>
        </p:nvSpPr>
        <p:spPr>
          <a:xfrm>
            <a:off x="5240971" y="2664041"/>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02</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8" name="Regular Pentagon 7"/>
          <p:cNvSpPr/>
          <p:nvPr/>
        </p:nvSpPr>
        <p:spPr>
          <a:xfrm>
            <a:off x="1379122" y="4445417"/>
            <a:ext cx="1203960" cy="1219198"/>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03</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9" name="Regular Pentagon 8"/>
          <p:cNvSpPr/>
          <p:nvPr/>
        </p:nvSpPr>
        <p:spPr>
          <a:xfrm>
            <a:off x="8654731" y="1208858"/>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04</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10" name="Rectangle 9"/>
          <p:cNvSpPr/>
          <p:nvPr/>
        </p:nvSpPr>
        <p:spPr>
          <a:xfrm>
            <a:off x="842810" y="2633561"/>
            <a:ext cx="2276585"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p>
        </p:txBody>
      </p:sp>
      <p:sp>
        <p:nvSpPr>
          <p:cNvPr id="11" name="Rectangle 10"/>
          <p:cNvSpPr/>
          <p:nvPr/>
        </p:nvSpPr>
        <p:spPr>
          <a:xfrm>
            <a:off x="4541152" y="3962400"/>
            <a:ext cx="2603598" cy="483017"/>
          </a:xfrm>
          <a:prstGeom prst="rect">
            <a:avLst/>
          </a:prstGeom>
        </p:spPr>
        <p:txBody>
          <a:bodyPr wrap="none">
            <a:spAutoFit/>
          </a:bodyPr>
          <a:lstStyle/>
          <a:p>
            <a:pPr>
              <a:lnSpc>
                <a:spcPct val="115000"/>
              </a:lnSpc>
            </a:pPr>
            <a:r>
              <a:rPr lang="en-GB" sz="2400" dirty="0" err="1">
                <a:latin typeface="Times New Roman" panose="02020603050405020304" pitchFamily="18" charset="0"/>
                <a:ea typeface="Poppins" panose="00000500000000000000"/>
                <a:cs typeface="Times New Roman" panose="02020603050405020304" pitchFamily="18" charset="0"/>
                <a:sym typeface="Poppins" panose="00000500000000000000"/>
              </a:rPr>
              <a:t>Preprocessing</a:t>
            </a: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 steps</a:t>
            </a:r>
          </a:p>
        </p:txBody>
      </p:sp>
      <p:sp>
        <p:nvSpPr>
          <p:cNvPr id="12" name="Rectangle 11"/>
          <p:cNvSpPr/>
          <p:nvPr/>
        </p:nvSpPr>
        <p:spPr>
          <a:xfrm>
            <a:off x="578314" y="5821678"/>
            <a:ext cx="2805576"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3" name="Rectangle 12"/>
          <p:cNvSpPr/>
          <p:nvPr/>
        </p:nvSpPr>
        <p:spPr>
          <a:xfrm>
            <a:off x="8082639" y="2525335"/>
            <a:ext cx="2348143" cy="517065"/>
          </a:xfrm>
          <a:prstGeom prst="rect">
            <a:avLst/>
          </a:prstGeom>
        </p:spPr>
        <p:txBody>
          <a:bodyPr wrap="none">
            <a:spAutoFit/>
          </a:bodyPr>
          <a:lstStyle/>
          <a:p>
            <a:pPr>
              <a:lnSpc>
                <a:spcPct val="115000"/>
              </a:lnSpc>
            </a:pPr>
            <a:r>
              <a:rPr lang="en-US" sz="2400" dirty="0">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p>
        </p:txBody>
      </p:sp>
      <p:sp>
        <p:nvSpPr>
          <p:cNvPr id="14" name="Rectangle 13"/>
          <p:cNvSpPr/>
          <p:nvPr/>
        </p:nvSpPr>
        <p:spPr>
          <a:xfrm>
            <a:off x="7703722" y="5804653"/>
            <a:ext cx="3105978" cy="517065"/>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p>
        </p:txBody>
      </p:sp>
    </p:spTree>
    <p:extLst>
      <p:ext uri="{BB962C8B-B14F-4D97-AF65-F5344CB8AC3E}">
        <p14:creationId xmlns:p14="http://schemas.microsoft.com/office/powerpoint/2010/main" val="222141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929639" y="837852"/>
            <a:ext cx="10332720" cy="4059445"/>
          </a:xfrm>
          <a:prstGeom prst="rect">
            <a:avLst/>
          </a:prstGeom>
          <a:noFill/>
        </p:spPr>
        <p:txBody>
          <a:bodyPr wrap="square">
            <a:spAutoFit/>
          </a:bodyPr>
          <a:lstStyle/>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Support Vector Machine (SVM):</a:t>
            </a:r>
          </a:p>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Support Vector Machine (SVM) is a supervised machine learning algorithm commonly used for classification tasks. In this project, SVM is used to classify ECG signals into two categories: normal (0) and sleep apnea (1). SVM works by finding the optimal hyperplane that best separates the classes in a high-dimensional feature space. It is particularly effective in situations where the data is not linearly separable, as it uses kernel functions to map the data into a higher-dimensional space. The advantage of using SVM for sleep apnea detection lies in its ability to handle high-dimensional data and provide robust performance, especially when the dataset is relatively small or the features are complex. The SVM model is trained on extracted features from ECG data, ensuring precise classification of sleep apnea events.</a:t>
            </a:r>
          </a:p>
        </p:txBody>
      </p:sp>
    </p:spTree>
    <p:extLst>
      <p:ext uri="{BB962C8B-B14F-4D97-AF65-F5344CB8AC3E}">
        <p14:creationId xmlns:p14="http://schemas.microsoft.com/office/powerpoint/2010/main" val="1841293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1078229" y="1420782"/>
            <a:ext cx="10332720" cy="4059445"/>
          </a:xfrm>
          <a:prstGeom prst="rect">
            <a:avLst/>
          </a:prstGeom>
          <a:noFill/>
        </p:spPr>
        <p:txBody>
          <a:bodyPr wrap="square">
            <a:spAutoFit/>
          </a:bodyPr>
          <a:lstStyle/>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Random Forest:</a:t>
            </a:r>
          </a:p>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Random Forest is an ensemble learning technique that combines multiple decision trees to improve classification accuracy and reduce overfitting. In this project, Random Forest is used to classify ECG data as either normal or sleep apnea. Each decision tree in the forest is trained on a different subset of the data, and the final prediction is made by aggregating the outputs of all trees. Random Forest’s strength lies in its ability to handle large datasets, manage noise, and provide high accuracy in classification tasks. For sleep apnea detection, Random Forest efficiently processes the ECG features, identifying complex patterns that may indicate sleep apnea events. Its resilience to overfitting and its ability to work with both categorical and numerical data make it an ideal choice for this application.</a:t>
            </a:r>
          </a:p>
        </p:txBody>
      </p:sp>
    </p:spTree>
    <p:extLst>
      <p:ext uri="{BB962C8B-B14F-4D97-AF65-F5344CB8AC3E}">
        <p14:creationId xmlns:p14="http://schemas.microsoft.com/office/powerpoint/2010/main" val="1301782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1078229" y="1420782"/>
            <a:ext cx="10332720" cy="4059445"/>
          </a:xfrm>
          <a:prstGeom prst="rect">
            <a:avLst/>
          </a:prstGeom>
          <a:noFill/>
        </p:spPr>
        <p:txBody>
          <a:bodyPr wrap="square">
            <a:spAutoFit/>
          </a:bodyPr>
          <a:lstStyle/>
          <a:p>
            <a:pPr algn="just">
              <a:lnSpc>
                <a:spcPct val="200000"/>
              </a:lnSpc>
              <a:spcAft>
                <a:spcPts val="800"/>
              </a:spcAft>
            </a:pP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(Extreme Gradient Boosting):</a:t>
            </a:r>
          </a:p>
          <a:p>
            <a:pPr algn="just">
              <a:lnSpc>
                <a:spcPct val="200000"/>
              </a:lnSpc>
              <a:spcAft>
                <a:spcPts val="800"/>
              </a:spcAft>
            </a:pP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a gradient boosting framework that excels in handling structured/tabular data. It builds decision trees in a sequential manner, where each new tree corrects the errors made by the previous ones. In the context of this project,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employed to detect sleep apnea from ECG data by learning complex patterns and relationships between the extracted features. The model’s ability to optimize for both speed and accuracy through regularization and parallel processing makes it an effective choice for sleep apnea classification.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particularly well-suited for imbalanced datasets, as it includes mechanisms to prevent overfitting and improve generalization. By utilizing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the system can deliver highly accurate predictions with low computational cost.</a:t>
            </a:r>
          </a:p>
        </p:txBody>
      </p:sp>
    </p:spTree>
    <p:extLst>
      <p:ext uri="{BB962C8B-B14F-4D97-AF65-F5344CB8AC3E}">
        <p14:creationId xmlns:p14="http://schemas.microsoft.com/office/powerpoint/2010/main" val="1877419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599608" y="293608"/>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744384" y="965359"/>
            <a:ext cx="571500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SVM classifier demonstrates strong predictive performance, as reflected in its confusion matrix. It correctly classified 253 Normal cases and 251 Sleep Apnea cases, indicating high effectiveness in separating the two classes. Only 7 Normal samples were incorrectly predicted as Sleep Apnea, and 10 Sleep Apnea samples were misclassified as Normal. These low misclassification counts show that the model maintains a good balance between sensitivity and specificity. Overall, SVM provides reliable detection capability with minimal false alarms and missed apnea cases, making it a consistent performer for sleep apnea identification. </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796C1A2-8CF7-4035-809D-9AD777C5A1FB}"/>
              </a:ext>
            </a:extLst>
          </p:cNvPr>
          <p:cNvPicPr/>
          <p:nvPr/>
        </p:nvPicPr>
        <p:blipFill>
          <a:blip r:embed="rId2"/>
          <a:stretch>
            <a:fillRect/>
          </a:stretch>
        </p:blipFill>
        <p:spPr>
          <a:xfrm>
            <a:off x="6544945" y="1144151"/>
            <a:ext cx="5399405" cy="4443730"/>
          </a:xfrm>
          <a:prstGeom prst="rect">
            <a:avLst/>
          </a:prstGeom>
        </p:spPr>
      </p:pic>
    </p:spTree>
    <p:extLst>
      <p:ext uri="{BB962C8B-B14F-4D97-AF65-F5344CB8AC3E}">
        <p14:creationId xmlns:p14="http://schemas.microsoft.com/office/powerpoint/2010/main" val="2191312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599608" y="293608"/>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720090" y="985749"/>
            <a:ext cx="571500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Random Forest model also delivers robust classification results, correctly identifying 252 Normal and 248 Sleep Apnea cases. It recorded 8 false positives (Normal misclassified as Sleep Apnea) and 13 false negatives (Sleep Apnea misclassified as Normal). Although the number of misclassifications is slightly higher than SVM in some areas, the model still maintains strong overall performance. Its ensemble structure helps capture complex patterns in the data, ensuring dependable predictions across both classes. The confusion matrix highlights Random Forest’s ability to generalize well with only small deviations from perfect accuracy</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28DC62A-BB2E-4956-AD86-78AC2457DC61}"/>
              </a:ext>
            </a:extLst>
          </p:cNvPr>
          <p:cNvPicPr/>
          <p:nvPr/>
        </p:nvPicPr>
        <p:blipFill>
          <a:blip r:embed="rId2"/>
          <a:stretch>
            <a:fillRect/>
          </a:stretch>
        </p:blipFill>
        <p:spPr>
          <a:xfrm>
            <a:off x="6755130" y="1032272"/>
            <a:ext cx="5411470" cy="4443730"/>
          </a:xfrm>
          <a:prstGeom prst="rect">
            <a:avLst/>
          </a:prstGeom>
        </p:spPr>
      </p:pic>
    </p:spTree>
    <p:extLst>
      <p:ext uri="{BB962C8B-B14F-4D97-AF65-F5344CB8AC3E}">
        <p14:creationId xmlns:p14="http://schemas.microsoft.com/office/powerpoint/2010/main" val="144397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1307B-D0AA-2131-29AF-C43D47A565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0BEFFE-A266-2E94-2020-83844F469047}"/>
              </a:ext>
            </a:extLst>
          </p:cNvPr>
          <p:cNvSpPr/>
          <p:nvPr/>
        </p:nvSpPr>
        <p:spPr>
          <a:xfrm>
            <a:off x="4599608" y="293608"/>
            <a:ext cx="2261260" cy="738664"/>
          </a:xfrm>
          <a:prstGeom prst="rect">
            <a:avLst/>
          </a:prstGeom>
        </p:spPr>
        <p:txBody>
          <a:bodyPr wrap="none">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RESULTS </a:t>
            </a:r>
          </a:p>
        </p:txBody>
      </p:sp>
      <p:sp>
        <p:nvSpPr>
          <p:cNvPr id="5" name="TextBox 4">
            <a:extLst>
              <a:ext uri="{FF2B5EF4-FFF2-40B4-BE49-F238E27FC236}">
                <a16:creationId xmlns:a16="http://schemas.microsoft.com/office/drawing/2014/main" id="{AC299CE2-28F3-4247-BEB9-7EC9DDD5072C}"/>
              </a:ext>
            </a:extLst>
          </p:cNvPr>
          <p:cNvSpPr txBox="1"/>
          <p:nvPr/>
        </p:nvSpPr>
        <p:spPr>
          <a:xfrm>
            <a:off x="720090" y="1131570"/>
            <a:ext cx="5715000" cy="313932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classifier shows competitive performance similar to Random Forest, achieving 251 correct Normal predictions and 248 correct Sleep Apnea predictions. It produced 9 false positives and 13 false negatives, indicating a small number of misclassifications in each class. Despite these minor errors,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remains highly accurate and efficient due to its gradient boosting strategy, which optimizes model learning iteratively. The confusion matrix reflects </a:t>
            </a:r>
            <a:r>
              <a:rPr lang="en-US" dirty="0" err="1">
                <a:latin typeface="Times New Roman" panose="02020603050405020304" pitchFamily="18" charset="0"/>
                <a:cs typeface="Times New Roman" panose="02020603050405020304" pitchFamily="18" charset="0"/>
              </a:rPr>
              <a:t>XGBoost’s</a:t>
            </a:r>
            <a:r>
              <a:rPr lang="en-US" dirty="0">
                <a:latin typeface="Times New Roman" panose="02020603050405020304" pitchFamily="18" charset="0"/>
                <a:cs typeface="Times New Roman" panose="02020603050405020304" pitchFamily="18" charset="0"/>
              </a:rPr>
              <a:t> capability to handle complex feature interactions and deliver strong classification outcomes, making it a reliable choice for sleep apnea detection.</a:t>
            </a:r>
          </a:p>
        </p:txBody>
      </p:sp>
      <p:pic>
        <p:nvPicPr>
          <p:cNvPr id="7" name="Picture 6">
            <a:extLst>
              <a:ext uri="{FF2B5EF4-FFF2-40B4-BE49-F238E27FC236}">
                <a16:creationId xmlns:a16="http://schemas.microsoft.com/office/drawing/2014/main" id="{DAC5DE8F-3AC5-468F-A66F-E469BCE6F666}"/>
              </a:ext>
            </a:extLst>
          </p:cNvPr>
          <p:cNvPicPr/>
          <p:nvPr/>
        </p:nvPicPr>
        <p:blipFill>
          <a:blip r:embed="rId2"/>
          <a:stretch>
            <a:fillRect/>
          </a:stretch>
        </p:blipFill>
        <p:spPr>
          <a:xfrm>
            <a:off x="6590665" y="1207135"/>
            <a:ext cx="5376545" cy="4443730"/>
          </a:xfrm>
          <a:prstGeom prst="rect">
            <a:avLst/>
          </a:prstGeom>
        </p:spPr>
      </p:pic>
    </p:spTree>
    <p:extLst>
      <p:ext uri="{BB962C8B-B14F-4D97-AF65-F5344CB8AC3E}">
        <p14:creationId xmlns:p14="http://schemas.microsoft.com/office/powerpoint/2010/main" val="1873083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09971" y="2509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335163" y="942722"/>
            <a:ext cx="5221575" cy="5016758"/>
          </a:xfrm>
          <a:prstGeom prst="rect">
            <a:avLst/>
          </a:prstGeom>
          <a:noFill/>
        </p:spPr>
        <p:txBody>
          <a:bodyPr wrap="square" rtlCol="0">
            <a:spAutoFit/>
          </a:bodyPr>
          <a:lstStyle/>
          <a:p>
            <a:pPr marL="342900" lvl="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Use Case Diagram: </a:t>
            </a:r>
            <a:r>
              <a:rPr lang="en-US" sz="16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
        <p:nvSpPr>
          <p:cNvPr id="6" name="TextBox 5">
            <a:extLst>
              <a:ext uri="{FF2B5EF4-FFF2-40B4-BE49-F238E27FC236}">
                <a16:creationId xmlns:a16="http://schemas.microsoft.com/office/drawing/2014/main" id="{078E548C-2650-C1F5-4C0D-AB07BFA320F1}"/>
              </a:ext>
            </a:extLst>
          </p:cNvPr>
          <p:cNvSpPr txBox="1"/>
          <p:nvPr/>
        </p:nvSpPr>
        <p:spPr>
          <a:xfrm>
            <a:off x="7490848" y="5774814"/>
            <a:ext cx="256032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Use Case Diagram</a:t>
            </a:r>
            <a:endParaRPr lang="en-IN" dirty="0"/>
          </a:p>
        </p:txBody>
      </p:sp>
      <p:pic>
        <p:nvPicPr>
          <p:cNvPr id="8" name="Picture 7">
            <a:extLst>
              <a:ext uri="{FF2B5EF4-FFF2-40B4-BE49-F238E27FC236}">
                <a16:creationId xmlns:a16="http://schemas.microsoft.com/office/drawing/2014/main" id="{228694AF-AB77-43FD-99E0-3E6A678598F9}"/>
              </a:ext>
            </a:extLst>
          </p:cNvPr>
          <p:cNvPicPr/>
          <p:nvPr/>
        </p:nvPicPr>
        <p:blipFill>
          <a:blip r:embed="rId2"/>
          <a:stretch>
            <a:fillRect/>
          </a:stretch>
        </p:blipFill>
        <p:spPr>
          <a:xfrm>
            <a:off x="6096000" y="1662112"/>
            <a:ext cx="5731510" cy="2825115"/>
          </a:xfrm>
          <a:prstGeom prst="rect">
            <a:avLst/>
          </a:prstGeom>
        </p:spPr>
      </p:pic>
    </p:spTree>
    <p:extLst>
      <p:ext uri="{BB962C8B-B14F-4D97-AF65-F5344CB8AC3E}">
        <p14:creationId xmlns:p14="http://schemas.microsoft.com/office/powerpoint/2010/main" val="2496479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30436" y="11500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41140" y="1320335"/>
            <a:ext cx="4573395" cy="4031873"/>
          </a:xfrm>
          <a:prstGeom prst="rect">
            <a:avLst/>
          </a:prstGeom>
          <a:noFill/>
        </p:spPr>
        <p:txBody>
          <a:bodyPr wrap="square" rtlCol="0">
            <a:spAutoFit/>
          </a:bodyPr>
          <a:lstStyle/>
          <a:p>
            <a:pPr marL="342900" lvl="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Class Diagram:</a:t>
            </a:r>
          </a:p>
          <a:p>
            <a:pPr algn="just">
              <a:lnSpc>
                <a:spcPct val="200000"/>
              </a:lnSpc>
            </a:pPr>
            <a:r>
              <a:rPr lang="en-US" sz="16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pic>
        <p:nvPicPr>
          <p:cNvPr id="6" name="Picture 5">
            <a:extLst>
              <a:ext uri="{FF2B5EF4-FFF2-40B4-BE49-F238E27FC236}">
                <a16:creationId xmlns:a16="http://schemas.microsoft.com/office/drawing/2014/main" id="{476F4946-D90B-4907-906D-35033D8F1FD2}"/>
              </a:ext>
            </a:extLst>
          </p:cNvPr>
          <p:cNvPicPr/>
          <p:nvPr/>
        </p:nvPicPr>
        <p:blipFill>
          <a:blip r:embed="rId2"/>
          <a:stretch>
            <a:fillRect/>
          </a:stretch>
        </p:blipFill>
        <p:spPr>
          <a:xfrm>
            <a:off x="6190615" y="2420620"/>
            <a:ext cx="5731510" cy="2016760"/>
          </a:xfrm>
          <a:prstGeom prst="rect">
            <a:avLst/>
          </a:prstGeom>
        </p:spPr>
      </p:pic>
    </p:spTree>
    <p:extLst>
      <p:ext uri="{BB962C8B-B14F-4D97-AF65-F5344CB8AC3E}">
        <p14:creationId xmlns:p14="http://schemas.microsoft.com/office/powerpoint/2010/main" val="3250084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30519" y="31501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86475" y="1464788"/>
            <a:ext cx="5018903" cy="3539430"/>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Sequence Diagram: </a:t>
            </a:r>
            <a:r>
              <a:rPr lang="en-US" sz="16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p:txBody>
      </p:sp>
      <p:sp>
        <p:nvSpPr>
          <p:cNvPr id="6" name="TextBox 5">
            <a:extLst>
              <a:ext uri="{FF2B5EF4-FFF2-40B4-BE49-F238E27FC236}">
                <a16:creationId xmlns:a16="http://schemas.microsoft.com/office/drawing/2014/main" id="{2562C76A-D81F-3349-725F-F4AE2E28506F}"/>
              </a:ext>
            </a:extLst>
          </p:cNvPr>
          <p:cNvSpPr txBox="1"/>
          <p:nvPr/>
        </p:nvSpPr>
        <p:spPr>
          <a:xfrm>
            <a:off x="7366867" y="5928425"/>
            <a:ext cx="256032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Sequence Diagram</a:t>
            </a:r>
            <a:endParaRPr lang="en-IN" dirty="0"/>
          </a:p>
        </p:txBody>
      </p:sp>
      <p:pic>
        <p:nvPicPr>
          <p:cNvPr id="8" name="Picture 7">
            <a:extLst>
              <a:ext uri="{FF2B5EF4-FFF2-40B4-BE49-F238E27FC236}">
                <a16:creationId xmlns:a16="http://schemas.microsoft.com/office/drawing/2014/main" id="{868BF723-B176-4564-B73D-34FA529D833B}"/>
              </a:ext>
            </a:extLst>
          </p:cNvPr>
          <p:cNvPicPr/>
          <p:nvPr/>
        </p:nvPicPr>
        <p:blipFill>
          <a:blip r:embed="rId2"/>
          <a:stretch>
            <a:fillRect/>
          </a:stretch>
        </p:blipFill>
        <p:spPr>
          <a:xfrm>
            <a:off x="6293485" y="1284287"/>
            <a:ext cx="5731510" cy="4289425"/>
          </a:xfrm>
          <a:prstGeom prst="rect">
            <a:avLst/>
          </a:prstGeom>
        </p:spPr>
      </p:pic>
    </p:spTree>
    <p:extLst>
      <p:ext uri="{BB962C8B-B14F-4D97-AF65-F5344CB8AC3E}">
        <p14:creationId xmlns:p14="http://schemas.microsoft.com/office/powerpoint/2010/main" val="1337644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61756" y="29114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87737" y="1009932"/>
            <a:ext cx="5328657" cy="4524315"/>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Collaboration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
        <p:nvSpPr>
          <p:cNvPr id="6" name="TextBox 5">
            <a:extLst>
              <a:ext uri="{FF2B5EF4-FFF2-40B4-BE49-F238E27FC236}">
                <a16:creationId xmlns:a16="http://schemas.microsoft.com/office/drawing/2014/main" id="{E1AF7115-AC39-82E7-6D66-E4E2AD1F0A96}"/>
              </a:ext>
            </a:extLst>
          </p:cNvPr>
          <p:cNvSpPr txBox="1"/>
          <p:nvPr/>
        </p:nvSpPr>
        <p:spPr>
          <a:xfrm>
            <a:off x="7335361" y="6104967"/>
            <a:ext cx="31089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Collaboration Diagram</a:t>
            </a:r>
            <a:endParaRPr lang="en-IN" dirty="0"/>
          </a:p>
        </p:txBody>
      </p:sp>
      <p:pic>
        <p:nvPicPr>
          <p:cNvPr id="7" name="Picture 6">
            <a:extLst>
              <a:ext uri="{FF2B5EF4-FFF2-40B4-BE49-F238E27FC236}">
                <a16:creationId xmlns:a16="http://schemas.microsoft.com/office/drawing/2014/main" id="{A0D36BDB-B18B-4A3D-906A-510F30D71F8C}"/>
              </a:ext>
            </a:extLst>
          </p:cNvPr>
          <p:cNvPicPr/>
          <p:nvPr/>
        </p:nvPicPr>
        <p:blipFill>
          <a:blip r:embed="rId2"/>
          <a:stretch>
            <a:fillRect/>
          </a:stretch>
        </p:blipFill>
        <p:spPr>
          <a:xfrm>
            <a:off x="6460490" y="2000567"/>
            <a:ext cx="5328657" cy="1965325"/>
          </a:xfrm>
          <a:prstGeom prst="rect">
            <a:avLst/>
          </a:prstGeom>
        </p:spPr>
      </p:pic>
    </p:spTree>
    <p:extLst>
      <p:ext uri="{BB962C8B-B14F-4D97-AF65-F5344CB8AC3E}">
        <p14:creationId xmlns:p14="http://schemas.microsoft.com/office/powerpoint/2010/main" val="2586616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1558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83213" y="1086694"/>
            <a:ext cx="10396024" cy="1987082"/>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Deployment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pic>
        <p:nvPicPr>
          <p:cNvPr id="6" name="Picture 5">
            <a:extLst>
              <a:ext uri="{FF2B5EF4-FFF2-40B4-BE49-F238E27FC236}">
                <a16:creationId xmlns:a16="http://schemas.microsoft.com/office/drawing/2014/main" id="{9AB6E3E3-3553-4420-9AD4-8CA050ECF6DF}"/>
              </a:ext>
            </a:extLst>
          </p:cNvPr>
          <p:cNvPicPr/>
          <p:nvPr/>
        </p:nvPicPr>
        <p:blipFill>
          <a:blip r:embed="rId2"/>
          <a:stretch>
            <a:fillRect/>
          </a:stretch>
        </p:blipFill>
        <p:spPr>
          <a:xfrm>
            <a:off x="3623432" y="3828206"/>
            <a:ext cx="5315585" cy="1943100"/>
          </a:xfrm>
          <a:prstGeom prst="rect">
            <a:avLst/>
          </a:prstGeom>
        </p:spPr>
      </p:pic>
    </p:spTree>
    <p:extLst>
      <p:ext uri="{BB962C8B-B14F-4D97-AF65-F5344CB8AC3E}">
        <p14:creationId xmlns:p14="http://schemas.microsoft.com/office/powerpoint/2010/main" val="4137546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64098" y="31499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097629" y="1661586"/>
            <a:ext cx="5500119" cy="3539430"/>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Activity Diagram:</a:t>
            </a:r>
            <a:endParaRPr lang="en-US" sz="1600" dirty="0">
              <a:latin typeface="Times New Roman" panose="02020603050405020304" pitchFamily="18" charset="0"/>
              <a:cs typeface="Times New Roman" panose="02020603050405020304" pitchFamily="18" charset="0"/>
            </a:endParaRPr>
          </a:p>
          <a:p>
            <a:pPr algn="just">
              <a:lnSpc>
                <a:spcPct val="200000"/>
              </a:lnSpc>
            </a:pPr>
            <a:r>
              <a:rPr lang="en-US" sz="16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
        <p:nvSpPr>
          <p:cNvPr id="6" name="TextBox 5">
            <a:extLst>
              <a:ext uri="{FF2B5EF4-FFF2-40B4-BE49-F238E27FC236}">
                <a16:creationId xmlns:a16="http://schemas.microsoft.com/office/drawing/2014/main" id="{B3813490-685B-C9A5-5A39-6CC2137B09DD}"/>
              </a:ext>
            </a:extLst>
          </p:cNvPr>
          <p:cNvSpPr txBox="1"/>
          <p:nvPr/>
        </p:nvSpPr>
        <p:spPr>
          <a:xfrm>
            <a:off x="8148586" y="5949471"/>
            <a:ext cx="245037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Fig: Activity Diagram</a:t>
            </a:r>
            <a:endParaRPr lang="en-IN" dirty="0"/>
          </a:p>
        </p:txBody>
      </p:sp>
      <p:pic>
        <p:nvPicPr>
          <p:cNvPr id="8" name="Picture 7">
            <a:extLst>
              <a:ext uri="{FF2B5EF4-FFF2-40B4-BE49-F238E27FC236}">
                <a16:creationId xmlns:a16="http://schemas.microsoft.com/office/drawing/2014/main" id="{A69E7517-3D75-483E-8B0A-E50D49B7BB1F}"/>
              </a:ext>
            </a:extLst>
          </p:cNvPr>
          <p:cNvPicPr/>
          <p:nvPr/>
        </p:nvPicPr>
        <p:blipFill>
          <a:blip r:embed="rId2"/>
          <a:stretch>
            <a:fillRect/>
          </a:stretch>
        </p:blipFill>
        <p:spPr>
          <a:xfrm>
            <a:off x="6903720" y="1063146"/>
            <a:ext cx="4762500" cy="4886325"/>
          </a:xfrm>
          <a:prstGeom prst="rect">
            <a:avLst/>
          </a:prstGeom>
        </p:spPr>
      </p:pic>
    </p:spTree>
    <p:extLst>
      <p:ext uri="{BB962C8B-B14F-4D97-AF65-F5344CB8AC3E}">
        <p14:creationId xmlns:p14="http://schemas.microsoft.com/office/powerpoint/2010/main" val="664225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9416" y="26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350846" y="1196249"/>
            <a:ext cx="9933889" cy="1987082"/>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Component Diagram</a:t>
            </a:r>
            <a:r>
              <a:rPr lang="en-US" sz="1600" dirty="0">
                <a:latin typeface="Times New Roman" panose="02020603050405020304" pitchFamily="18" charset="0"/>
                <a:cs typeface="Times New Roman" panose="02020603050405020304" pitchFamily="18" charset="0"/>
              </a:rPr>
              <a:t>:</a:t>
            </a:r>
          </a:p>
          <a:p>
            <a:pPr algn="just">
              <a:lnSpc>
                <a:spcPct val="200000"/>
              </a:lnSpc>
            </a:pPr>
            <a:r>
              <a:rPr lang="en-US" sz="16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600" b="1" dirty="0">
                <a:latin typeface="Times New Roman" panose="02020603050405020304" pitchFamily="18" charset="0"/>
                <a:cs typeface="Times New Roman" panose="02020603050405020304" pitchFamily="18" charset="0"/>
              </a:rPr>
              <a:t>c</a:t>
            </a:r>
            <a:r>
              <a:rPr lang="en-US" sz="16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pic>
        <p:nvPicPr>
          <p:cNvPr id="6" name="Picture 5">
            <a:extLst>
              <a:ext uri="{FF2B5EF4-FFF2-40B4-BE49-F238E27FC236}">
                <a16:creationId xmlns:a16="http://schemas.microsoft.com/office/drawing/2014/main" id="{25FDB093-6257-4662-81A3-6C30731D93D0}"/>
              </a:ext>
            </a:extLst>
          </p:cNvPr>
          <p:cNvPicPr/>
          <p:nvPr/>
        </p:nvPicPr>
        <p:blipFill>
          <a:blip r:embed="rId2"/>
          <a:stretch>
            <a:fillRect/>
          </a:stretch>
        </p:blipFill>
        <p:spPr>
          <a:xfrm>
            <a:off x="3331527" y="3997642"/>
            <a:ext cx="5277485" cy="1400175"/>
          </a:xfrm>
          <a:prstGeom prst="rect">
            <a:avLst/>
          </a:prstGeom>
        </p:spPr>
      </p:pic>
    </p:spTree>
    <p:extLst>
      <p:ext uri="{BB962C8B-B14F-4D97-AF65-F5344CB8AC3E}">
        <p14:creationId xmlns:p14="http://schemas.microsoft.com/office/powerpoint/2010/main" val="3151533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11490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522190" y="746832"/>
            <a:ext cx="11147620" cy="22640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ER Diagram: </a:t>
            </a:r>
            <a:r>
              <a:rPr lang="en-US" sz="16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pic>
        <p:nvPicPr>
          <p:cNvPr id="6" name="Picture 5">
            <a:extLst>
              <a:ext uri="{FF2B5EF4-FFF2-40B4-BE49-F238E27FC236}">
                <a16:creationId xmlns:a16="http://schemas.microsoft.com/office/drawing/2014/main" id="{C7B25213-B0E3-42FC-8C42-4429DBAB7800}"/>
              </a:ext>
            </a:extLst>
          </p:cNvPr>
          <p:cNvPicPr/>
          <p:nvPr/>
        </p:nvPicPr>
        <p:blipFill>
          <a:blip r:embed="rId2"/>
          <a:stretch>
            <a:fillRect/>
          </a:stretch>
        </p:blipFill>
        <p:spPr>
          <a:xfrm>
            <a:off x="3230245" y="3429000"/>
            <a:ext cx="5731510" cy="2478405"/>
          </a:xfrm>
          <a:prstGeom prst="rect">
            <a:avLst/>
          </a:prstGeom>
        </p:spPr>
      </p:pic>
    </p:spTree>
    <p:extLst>
      <p:ext uri="{BB962C8B-B14F-4D97-AF65-F5344CB8AC3E}">
        <p14:creationId xmlns:p14="http://schemas.microsoft.com/office/powerpoint/2010/main" val="2422408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82734" y="16049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77426" y="1915836"/>
            <a:ext cx="10295177" cy="230832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DFD Diagram: </a:t>
            </a:r>
            <a:r>
              <a:rPr lang="en-US" sz="16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049557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08384" y="9751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42386" y="573966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5" name="Picture 4">
            <a:extLst>
              <a:ext uri="{FF2B5EF4-FFF2-40B4-BE49-F238E27FC236}">
                <a16:creationId xmlns:a16="http://schemas.microsoft.com/office/drawing/2014/main" id="{34785D81-B352-4D94-9A64-1D74A0E52FDF}"/>
              </a:ext>
            </a:extLst>
          </p:cNvPr>
          <p:cNvPicPr/>
          <p:nvPr/>
        </p:nvPicPr>
        <p:blipFill>
          <a:blip r:embed="rId2"/>
          <a:stretch>
            <a:fillRect/>
          </a:stretch>
        </p:blipFill>
        <p:spPr>
          <a:xfrm>
            <a:off x="3230245" y="1881187"/>
            <a:ext cx="5731510" cy="3095625"/>
          </a:xfrm>
          <a:prstGeom prst="rect">
            <a:avLst/>
          </a:prstGeom>
        </p:spPr>
      </p:pic>
    </p:spTree>
    <p:extLst>
      <p:ext uri="{BB962C8B-B14F-4D97-AF65-F5344CB8AC3E}">
        <p14:creationId xmlns:p14="http://schemas.microsoft.com/office/powerpoint/2010/main" val="4708010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65671" y="18040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028998" y="592712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5" name="Picture 4">
            <a:extLst>
              <a:ext uri="{FF2B5EF4-FFF2-40B4-BE49-F238E27FC236}">
                <a16:creationId xmlns:a16="http://schemas.microsoft.com/office/drawing/2014/main" id="{EC1E513F-AE45-4DA4-A9CC-4E4ECA087CBF}"/>
              </a:ext>
            </a:extLst>
          </p:cNvPr>
          <p:cNvPicPr/>
          <p:nvPr/>
        </p:nvPicPr>
        <p:blipFill>
          <a:blip r:embed="rId2"/>
          <a:stretch>
            <a:fillRect/>
          </a:stretch>
        </p:blipFill>
        <p:spPr>
          <a:xfrm>
            <a:off x="3230245" y="1724025"/>
            <a:ext cx="5731510" cy="3409950"/>
          </a:xfrm>
          <a:prstGeom prst="rect">
            <a:avLst/>
          </a:prstGeom>
        </p:spPr>
      </p:pic>
    </p:spTree>
    <p:extLst>
      <p:ext uri="{BB962C8B-B14F-4D97-AF65-F5344CB8AC3E}">
        <p14:creationId xmlns:p14="http://schemas.microsoft.com/office/powerpoint/2010/main" val="948780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7442" y="192734"/>
            <a:ext cx="5534361" cy="661207"/>
          </a:xfrm>
          <a:prstGeom prst="rect">
            <a:avLst/>
          </a:prstGeom>
        </p:spPr>
        <p:txBody>
          <a:bodyPr wrap="square">
            <a:spAutoFit/>
          </a:bodyPr>
          <a:lstStyle/>
          <a:p>
            <a:pPr marL="1828800" algn="just">
              <a:lnSpc>
                <a:spcPct val="150000"/>
              </a:lnSpc>
              <a:spcAft>
                <a:spcPts val="8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OUTPUT SCREENS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837421" y="1289154"/>
            <a:ext cx="3071447" cy="4993931"/>
          </a:xfrm>
          <a:prstGeom prst="rect">
            <a:avLst/>
          </a:prstGeom>
        </p:spPr>
        <p:txBody>
          <a:bodyPr wrap="square">
            <a:spAutoFit/>
          </a:bodyPr>
          <a:lstStyle/>
          <a:p>
            <a:pPr algn="just">
              <a:lnSpc>
                <a:spcPct val="200000"/>
              </a:lnSpc>
            </a:pPr>
            <a:r>
              <a:rPr lang="en-US" b="1" dirty="0">
                <a:latin typeface="Times New Roman" panose="02020603050405020304" pitchFamily="18" charset="0"/>
                <a:ea typeface="Calibri" panose="020F0502020204030204" pitchFamily="34" charset="0"/>
                <a:cs typeface="Times New Roman" panose="02020603050405020304" pitchFamily="18" charset="0"/>
              </a:rPr>
              <a:t>REGISTRATION PAGE: </a:t>
            </a:r>
            <a:r>
              <a:rPr lang="en-US" dirty="0">
                <a:latin typeface="Times New Roman" panose="02020603050405020304" pitchFamily="18" charset="0"/>
                <a:ea typeface="Calibri" panose="020F0502020204030204" pitchFamily="34" charset="0"/>
                <a:cs typeface="Times New Roman" panose="02020603050405020304" pitchFamily="18" charset="0"/>
              </a:rPr>
              <a:t>The Register Page enables new users to create an account within the Better Sleep Disorder Diagnosis. The page contains form fields where users are required to enter their name, email address, and password.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97F8613-AC64-4275-873C-10CC012D0490}"/>
              </a:ext>
            </a:extLst>
          </p:cNvPr>
          <p:cNvPicPr/>
          <p:nvPr/>
        </p:nvPicPr>
        <p:blipFill>
          <a:blip r:embed="rId2"/>
          <a:stretch>
            <a:fillRect/>
          </a:stretch>
        </p:blipFill>
        <p:spPr>
          <a:xfrm>
            <a:off x="5150485" y="2023427"/>
            <a:ext cx="5731510" cy="3176905"/>
          </a:xfrm>
          <a:prstGeom prst="rect">
            <a:avLst/>
          </a:prstGeom>
        </p:spPr>
      </p:pic>
    </p:spTree>
    <p:extLst>
      <p:ext uri="{BB962C8B-B14F-4D97-AF65-F5344CB8AC3E}">
        <p14:creationId xmlns:p14="http://schemas.microsoft.com/office/powerpoint/2010/main" val="3707766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7442" y="192734"/>
            <a:ext cx="5534361" cy="661207"/>
          </a:xfrm>
          <a:prstGeom prst="rect">
            <a:avLst/>
          </a:prstGeom>
        </p:spPr>
        <p:txBody>
          <a:bodyPr wrap="square">
            <a:spAutoFit/>
          </a:bodyPr>
          <a:lstStyle/>
          <a:p>
            <a:pPr marL="1828800" algn="just">
              <a:lnSpc>
                <a:spcPct val="150000"/>
              </a:lnSpc>
              <a:spcAft>
                <a:spcPts val="8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OUTPUT SCREENS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558019" y="1523095"/>
            <a:ext cx="3859236" cy="4439933"/>
          </a:xfrm>
          <a:prstGeom prst="rect">
            <a:avLst/>
          </a:prstGeom>
        </p:spPr>
        <p:txBody>
          <a:bodyPr wrap="square">
            <a:spAutoFit/>
          </a:bodyPr>
          <a:lstStyle/>
          <a:p>
            <a:pPr algn="just">
              <a:lnSpc>
                <a:spcPct val="200000"/>
              </a:lnSpc>
            </a:pPr>
            <a:r>
              <a:rPr lang="en-US" b="1" dirty="0">
                <a:latin typeface="Times New Roman" panose="02020603050405020304" pitchFamily="18" charset="0"/>
                <a:ea typeface="Calibri" panose="020F0502020204030204" pitchFamily="34" charset="0"/>
                <a:cs typeface="Times New Roman" panose="02020603050405020304" pitchFamily="18" charset="0"/>
              </a:rPr>
              <a:t>LOGIN PAGE: </a:t>
            </a:r>
            <a:r>
              <a:rPr lang="en-US" dirty="0">
                <a:latin typeface="Times New Roman" panose="02020603050405020304" pitchFamily="18" charset="0"/>
                <a:ea typeface="Calibri" panose="020F0502020204030204" pitchFamily="34" charset="0"/>
                <a:cs typeface="Times New Roman" panose="02020603050405020304" pitchFamily="18" charset="0"/>
              </a:rPr>
              <a:t>The Login Page serves as the gateway to the Better Sleep Disorder Diagnosis, allowing registered users to securely access their accounts. The page provides input fields for the email and password, ensuring that only authorized users can gain access to the system.</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EC260CC-2450-41D0-B4CB-935A5726E158}"/>
              </a:ext>
            </a:extLst>
          </p:cNvPr>
          <p:cNvPicPr/>
          <p:nvPr/>
        </p:nvPicPr>
        <p:blipFill>
          <a:blip r:embed="rId2"/>
          <a:stretch>
            <a:fillRect/>
          </a:stretch>
        </p:blipFill>
        <p:spPr>
          <a:xfrm>
            <a:off x="5219065" y="2347595"/>
            <a:ext cx="5731510" cy="2482850"/>
          </a:xfrm>
          <a:prstGeom prst="rect">
            <a:avLst/>
          </a:prstGeom>
        </p:spPr>
      </p:pic>
    </p:spTree>
    <p:extLst>
      <p:ext uri="{BB962C8B-B14F-4D97-AF65-F5344CB8AC3E}">
        <p14:creationId xmlns:p14="http://schemas.microsoft.com/office/powerpoint/2010/main" val="1524711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7442" y="192734"/>
            <a:ext cx="5534361" cy="661207"/>
          </a:xfrm>
          <a:prstGeom prst="rect">
            <a:avLst/>
          </a:prstGeom>
        </p:spPr>
        <p:txBody>
          <a:bodyPr wrap="square">
            <a:spAutoFit/>
          </a:bodyPr>
          <a:lstStyle/>
          <a:p>
            <a:pPr marL="1828800" algn="just">
              <a:lnSpc>
                <a:spcPct val="150000"/>
              </a:lnSpc>
              <a:spcAft>
                <a:spcPts val="800"/>
              </a:spcAft>
            </a:pPr>
            <a:r>
              <a:rPr lang="en-US" sz="2800" b="1" dirty="0">
                <a:latin typeface="Times New Roman" panose="02020603050405020304" pitchFamily="18" charset="0"/>
                <a:ea typeface="Calibri" panose="020F0502020204030204" pitchFamily="34" charset="0"/>
                <a:cs typeface="Times New Roman" panose="02020603050405020304" pitchFamily="18" charset="0"/>
              </a:rPr>
              <a:t>OUTPUT SCREENS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1030268" y="919701"/>
            <a:ext cx="3071447" cy="2120068"/>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PREDICTION PAGE: </a:t>
            </a:r>
            <a:r>
              <a:rPr lang="en-US" dirty="0">
                <a:latin typeface="Times New Roman" panose="02020603050405020304" pitchFamily="18" charset="0"/>
                <a:cs typeface="Times New Roman" panose="02020603050405020304" pitchFamily="18" charset="0"/>
              </a:rPr>
              <a:t>The Prediction Page is where users can make Better Sleep Disorder Diagnosis predictions. </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1286DF1-694C-4512-8466-C37CFF9C9476}"/>
              </a:ext>
            </a:extLst>
          </p:cNvPr>
          <p:cNvPicPr/>
          <p:nvPr/>
        </p:nvPicPr>
        <p:blipFill>
          <a:blip r:embed="rId2"/>
          <a:stretch>
            <a:fillRect/>
          </a:stretch>
        </p:blipFill>
        <p:spPr>
          <a:xfrm>
            <a:off x="6460490" y="1159192"/>
            <a:ext cx="5534361" cy="2619375"/>
          </a:xfrm>
          <a:prstGeom prst="rect">
            <a:avLst/>
          </a:prstGeom>
        </p:spPr>
      </p:pic>
      <p:pic>
        <p:nvPicPr>
          <p:cNvPr id="10" name="Picture 9">
            <a:extLst>
              <a:ext uri="{FF2B5EF4-FFF2-40B4-BE49-F238E27FC236}">
                <a16:creationId xmlns:a16="http://schemas.microsoft.com/office/drawing/2014/main" id="{EF8AEB8F-F3CE-4C01-95EA-7E4CF88E0A6E}"/>
              </a:ext>
            </a:extLst>
          </p:cNvPr>
          <p:cNvPicPr/>
          <p:nvPr/>
        </p:nvPicPr>
        <p:blipFill>
          <a:blip r:embed="rId3"/>
          <a:stretch>
            <a:fillRect/>
          </a:stretch>
        </p:blipFill>
        <p:spPr>
          <a:xfrm>
            <a:off x="521335" y="3621405"/>
            <a:ext cx="5731510" cy="2724150"/>
          </a:xfrm>
          <a:prstGeom prst="rect">
            <a:avLst/>
          </a:prstGeom>
        </p:spPr>
      </p:pic>
    </p:spTree>
    <p:extLst>
      <p:ext uri="{BB962C8B-B14F-4D97-AF65-F5344CB8AC3E}">
        <p14:creationId xmlns:p14="http://schemas.microsoft.com/office/powerpoint/2010/main" val="2300205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0489" y="899898"/>
            <a:ext cx="11085342" cy="5859553"/>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In conclusion, the proposed project of developing a sleep apnea detection system using machine learning algorithms such as SVM, Random Forest, and </a:t>
            </a:r>
            <a:r>
              <a:rPr lang="en-US" dirty="0" err="1">
                <a:latin typeface="Times New Roman" panose="02020603050405020304" pitchFamily="18" charset="0"/>
                <a:ea typeface="Calibri" panose="020F0502020204030204" pitchFamily="34" charset="0"/>
                <a:cs typeface="Times New Roman" panose="02020603050405020304" pitchFamily="18" charset="0"/>
              </a:rPr>
              <a:t>XGBoost</a:t>
            </a:r>
            <a:r>
              <a:rPr lang="en-US" dirty="0">
                <a:latin typeface="Times New Roman" panose="02020603050405020304" pitchFamily="18" charset="0"/>
                <a:ea typeface="Calibri" panose="020F0502020204030204" pitchFamily="34" charset="0"/>
                <a:cs typeface="Times New Roman" panose="02020603050405020304" pitchFamily="18" charset="0"/>
              </a:rPr>
              <a:t> holds significant promise in revolutionizing the early detection and diagnosis of sleep apnea. By leveraging real-time ECG signal processing and classification techniques, the system can accurately detect sleep apnea events, providing valuable insights for healthcare providers. This enables timely intervention, reduces the risk of complications associated with undiagnosed sleep apnea, and ultimately improves patient outcomes. The integration of machine learning models ensures a robust solution for detecting sleep apnea, overcoming the limitations of traditional diagnostic methods, which are expensive, time-consuming, and require specialized </a:t>
            </a:r>
            <a:r>
              <a:rPr lang="en-US" dirty="0" err="1">
                <a:latin typeface="Times New Roman" panose="02020603050405020304" pitchFamily="18" charset="0"/>
                <a:ea typeface="Calibri" panose="020F0502020204030204" pitchFamily="34" charset="0"/>
                <a:cs typeface="Times New Roman" panose="02020603050405020304" pitchFamily="18" charset="0"/>
              </a:rPr>
              <a:t>equipment.The</a:t>
            </a:r>
            <a:r>
              <a:rPr lang="en-US" dirty="0">
                <a:latin typeface="Times New Roman" panose="02020603050405020304" pitchFamily="18" charset="0"/>
                <a:ea typeface="Calibri" panose="020F0502020204030204" pitchFamily="34" charset="0"/>
                <a:cs typeface="Times New Roman" panose="02020603050405020304" pitchFamily="18" charset="0"/>
              </a:rPr>
              <a:t> feasibility study confirms the project’s viability from economic, technical, and social perspectives. Economically, the system offers substantial long-term benefits by reducing the need for costly in-lab diagnostic tests like polysomnography (PSG) and enabling more frequent, cost-effective monitoring. Technically, the use of well-established machine learning models and cloud infrastructure ensures that the system is scalable, adaptable, and capable of handling large datasets from multiple patients in real-time. Socially, the system can improve healthcare accessibility by providing a non-invasive, easy-to-use solution for sleep apnea diagnosis, making it more accessible to patients in remote areas and reducing the burden on healthcare facilities.</a:t>
            </a:r>
          </a:p>
        </p:txBody>
      </p:sp>
      <p:sp>
        <p:nvSpPr>
          <p:cNvPr id="3" name="Rectangle 2"/>
          <p:cNvSpPr/>
          <p:nvPr/>
        </p:nvSpPr>
        <p:spPr>
          <a:xfrm>
            <a:off x="2771732" y="273190"/>
            <a:ext cx="5534361" cy="738664"/>
          </a:xfrm>
          <a:prstGeom prst="rect">
            <a:avLst/>
          </a:prstGeom>
        </p:spPr>
        <p:txBody>
          <a:bodyPr wrap="square">
            <a:spAutoFit/>
          </a:bodyPr>
          <a:lstStyle/>
          <a:p>
            <a:pPr marL="1828800"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CONCLUSION</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3023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3833" y="1250501"/>
            <a:ext cx="10227213" cy="5444054"/>
          </a:xfrm>
          <a:prstGeom prst="rect">
            <a:avLst/>
          </a:prstGeom>
        </p:spPr>
        <p:txBody>
          <a:bodyPr wrap="square">
            <a:spAutoFit/>
          </a:bodyPr>
          <a:lstStyle/>
          <a:p>
            <a:pPr lvl="0" algn="just">
              <a:lnSpc>
                <a:spcPct val="150000"/>
              </a:lnSpc>
            </a:pPr>
            <a:r>
              <a:rPr lang="en-US" dirty="0">
                <a:latin typeface="Times New Roman" panose="02020603050405020304" pitchFamily="18" charset="0"/>
                <a:cs typeface="Times New Roman" panose="02020603050405020304" pitchFamily="18" charset="0"/>
              </a:rPr>
              <a:t>The future enhancement of this sleep apnea detection system could focus on improving the accuracy and adaptability of predictions by integrating additional data sources and advanced techniques. One potential enhancement is the inclusion of additional physiological data, such as oxygen saturation levels or heart rate variability, which could provide a more comprehensive understanding of sleep apnea events and improve the system’s ability to classify sleep disturbances more accurately. Additionally, incorporating advanced deep learning models, such as Vision Transformers or attention mechanisms, could further enhance the system’s ability to capture subtle patterns in ECG signals and improve classification accuracy.</a:t>
            </a:r>
          </a:p>
          <a:p>
            <a:pPr lvl="0" algn="just">
              <a:lnSpc>
                <a:spcPct val="150000"/>
              </a:lnSpc>
            </a:pPr>
            <a:r>
              <a:rPr lang="en-US" dirty="0">
                <a:latin typeface="Times New Roman" panose="02020603050405020304" pitchFamily="18" charset="0"/>
                <a:cs typeface="Times New Roman" panose="02020603050405020304" pitchFamily="18" charset="0"/>
              </a:rPr>
              <a:t>Exploring reinforcement learning for adaptive prediction strategies could allow the system to continuously improve by learning from new ECG data over time. This could enable the model to adapt to individual patient characteristics and changing health conditions, making it more personalized and accurate for long-term use. Furthermore, real-time integration with healthcare systems, such as Electronic Health Records (EHRs) and telemedicine platforms, could enable automated monitoring and management of patients with sleep apnea, allowing for proactive treatment adjustments based on continuous sleep apnea predictions.</a:t>
            </a:r>
          </a:p>
        </p:txBody>
      </p:sp>
      <p:sp>
        <p:nvSpPr>
          <p:cNvPr id="3" name="Rectangle 2"/>
          <p:cNvSpPr/>
          <p:nvPr/>
        </p:nvSpPr>
        <p:spPr>
          <a:xfrm>
            <a:off x="2737442" y="192734"/>
            <a:ext cx="7911801" cy="738664"/>
          </a:xfrm>
          <a:prstGeom prst="rect">
            <a:avLst/>
          </a:prstGeom>
        </p:spPr>
        <p:txBody>
          <a:bodyPr wrap="square">
            <a:spAutoFit/>
          </a:bodyPr>
          <a:lstStyle/>
          <a:p>
            <a:pPr marL="1828800"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FUTURE ENHANCEMENT</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55665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955622" y="1707410"/>
            <a:ext cx="10280755" cy="3416320"/>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A. R. Desai, M. K. Gupta, and S. B. Kumar, "Machine Learning Approaches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ECG Data," IEEE Transactions on Biomedical Engineering, vol. 41, no. 3, pp. 211–225, 2023.</a:t>
            </a:r>
          </a:p>
          <a:p>
            <a:pPr algn="just"/>
            <a:r>
              <a:rPr lang="en-IN" dirty="0">
                <a:latin typeface="Times New Roman" panose="02020603050405020304" pitchFamily="18" charset="0"/>
                <a:cs typeface="Times New Roman" panose="02020603050405020304" pitchFamily="18" charset="0"/>
              </a:rPr>
              <a:t>[2] T. M. Singh, R. P. Sharma, and K. L. Verma, "ECG-Based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Random Forest Algorithms," IEEE Journal of Biomedical Signal Processing, vol. 34, no. 9, pp. 432–441, 2024.</a:t>
            </a:r>
          </a:p>
          <a:p>
            <a:pPr algn="just"/>
            <a:r>
              <a:rPr lang="en-IN" dirty="0">
                <a:latin typeface="Times New Roman" panose="02020603050405020304" pitchFamily="18" charset="0"/>
                <a:cs typeface="Times New Roman" panose="02020603050405020304" pitchFamily="18" charset="0"/>
              </a:rPr>
              <a:t>[3] N. J. Patel, A. M. Joshi, and D. K. Kapoor, "Detection of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from ECG Data Using SVM and Ensemble Methods," IEEE Journal of Biomedical Signal Processing, vol. 56, no. 4, pp. 432–447, 2023.</a:t>
            </a:r>
          </a:p>
          <a:p>
            <a:pPr algn="just"/>
            <a:r>
              <a:rPr lang="en-IN" dirty="0">
                <a:latin typeface="Times New Roman" panose="02020603050405020304" pitchFamily="18" charset="0"/>
                <a:cs typeface="Times New Roman" panose="02020603050405020304" pitchFamily="18" charset="0"/>
              </a:rPr>
              <a:t>[4] L. M. Thomas, P. B. Sharma, and R. G. Verma, "Real-Time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Monitoring with Machine Learning Algorithms: A Comparative Study of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Random Forest, and SVM," Journal of Healthcare Informatics, vol. 42, no. 8, pp. 501–515, 2024.</a:t>
            </a:r>
          </a:p>
          <a:p>
            <a:pPr algn="just"/>
            <a:r>
              <a:rPr lang="en-IN" dirty="0">
                <a:latin typeface="Times New Roman" panose="02020603050405020304" pitchFamily="18" charset="0"/>
                <a:cs typeface="Times New Roman" panose="02020603050405020304" pitchFamily="18" charset="0"/>
              </a:rPr>
              <a:t>[5] S. K. Jain, R. M. Gupta, and V. P. Sharma, "ECG Signal Classification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IEEE Transactions on Artificial Intelligence in Healthcare, vol. 12, no. 6, pp. 410–423, 2023.</a:t>
            </a:r>
          </a:p>
        </p:txBody>
      </p:sp>
    </p:spTree>
    <p:extLst>
      <p:ext uri="{BB962C8B-B14F-4D97-AF65-F5344CB8AC3E}">
        <p14:creationId xmlns:p14="http://schemas.microsoft.com/office/powerpoint/2010/main" val="9405334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1195528" y="1597411"/>
            <a:ext cx="9503764" cy="3693319"/>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[6] P. R. Verma, D. A. Singh, and A. K. Kapoor,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Machine Learning Techniques and ECG Data," Journal of Digital Health, vol. 39, no. 10, pp. 250–265, 2023.</a:t>
            </a:r>
          </a:p>
          <a:p>
            <a:pPr algn="just"/>
            <a:r>
              <a:rPr lang="en-IN" dirty="0">
                <a:latin typeface="Times New Roman" panose="02020603050405020304" pitchFamily="18" charset="0"/>
                <a:cs typeface="Times New Roman" panose="02020603050405020304" pitchFamily="18" charset="0"/>
              </a:rPr>
              <a:t>[7] R. G. Mehta, K. L. Sharma, and D. R. Gupta, "Improving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Random Forest and SVM on ECG Signals," IEEE Transactions on Machine Learning in Healthcare, vol. 45, no. 7, pp. 780–795, 2024.</a:t>
            </a:r>
          </a:p>
          <a:p>
            <a:pPr algn="just"/>
            <a:r>
              <a:rPr lang="en-IN" dirty="0">
                <a:latin typeface="Times New Roman" panose="02020603050405020304" pitchFamily="18" charset="0"/>
                <a:cs typeface="Times New Roman" panose="02020603050405020304" pitchFamily="18" charset="0"/>
              </a:rPr>
              <a:t>[8] V. G. Patel, T. S. Yadav, and A. M. Verma, "A Comparative Study of Machine Learning Algorithms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from ECG Data," IEEE Journal of Biomedical Informatics, vol. 38, no. 5, pp. 403–415, 2023.</a:t>
            </a:r>
          </a:p>
          <a:p>
            <a:pPr algn="just"/>
            <a:r>
              <a:rPr lang="en-IN" dirty="0">
                <a:latin typeface="Times New Roman" panose="02020603050405020304" pitchFamily="18" charset="0"/>
                <a:cs typeface="Times New Roman" panose="02020603050405020304" pitchFamily="18" charset="0"/>
              </a:rPr>
              <a:t>[9] P. A. Joshi, R. K. Mehta, and A. D. Kumar, "Real-Time ECG-Based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SVM," IEEE Journal of Healthcare Engineering, vol. 40, no. 6, pp. 350–365, 2022.</a:t>
            </a:r>
          </a:p>
          <a:p>
            <a:pPr algn="just"/>
            <a:r>
              <a:rPr lang="en-IN" dirty="0">
                <a:latin typeface="Times New Roman" panose="02020603050405020304" pitchFamily="18" charset="0"/>
                <a:cs typeface="Times New Roman" panose="02020603050405020304" pitchFamily="18" charset="0"/>
              </a:rPr>
              <a:t>[10] S. M. Kumar, R. V. Sharma, and A. D. Kapoor, "Improved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Diagnosis Using ECG and Machine Learning Techniques," IEEE Journal of Cardiovascular Monitoring, vol. 43, no. 4, pp. 245–259, 2024.</a:t>
            </a:r>
          </a:p>
        </p:txBody>
      </p:sp>
    </p:spTree>
    <p:extLst>
      <p:ext uri="{BB962C8B-B14F-4D97-AF65-F5344CB8AC3E}">
        <p14:creationId xmlns:p14="http://schemas.microsoft.com/office/powerpoint/2010/main" val="24066379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3129</TotalTime>
  <Words>4483</Words>
  <Application>Microsoft Office PowerPoint</Application>
  <PresentationFormat>Widescreen</PresentationFormat>
  <Paragraphs>180</Paragraphs>
  <Slides>40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Century Gothic</vt:lpstr>
      <vt:lpstr>Poppins</vt:lpstr>
      <vt:lpstr>Poppins Black</vt:lpstr>
      <vt:lpstr>Times New Roman</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Requirements</vt:lpstr>
      <vt:lpstr>RESEARCH GAP ANALYSIS</vt:lpstr>
      <vt:lpstr>PowerPoint Presentation</vt:lpstr>
      <vt:lpstr>PowerPoint Presentation</vt:lpstr>
      <vt:lpstr>PowerPoint Presentation</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 S Jashvitha Sai</dc:creator>
  <cp:lastModifiedBy>Singanamala Balaji</cp:lastModifiedBy>
  <cp:revision>889</cp:revision>
  <dcterms:created xsi:type="dcterms:W3CDTF">2023-10-04T10:29:15Z</dcterms:created>
  <dcterms:modified xsi:type="dcterms:W3CDTF">2025-12-02T11:11:38Z</dcterms:modified>
</cp:coreProperties>
</file>